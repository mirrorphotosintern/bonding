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580bcd1a274c07" /><Relationship Type="http://schemas.openxmlformats.org/officeDocument/2006/relationships/extended-properties" Target="/docProps/app.xml" Id="Ra1247e5c0e694f77" /><Relationship Type="http://schemas.openxmlformats.org/officeDocument/2006/relationships/officeDocument" Target="/ppt/presentation.xml" Id="R4c5a2030151342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3a0b36c1054a0b"/>
  </p:sldMasterIdLst>
  <p:notesMasterIdLst>
    <p:notesMasterId xmlns:r="http://schemas.openxmlformats.org/officeDocument/2006/relationships" r:id="R29862a70759d474e"/>
  </p:notesMasterIdLst>
  <p:sldIdLst>
    <p:sldId xmlns:r="http://schemas.openxmlformats.org/officeDocument/2006/relationships" id="256" r:id="Rf944065839034fcf"/>
    <p:sldId xmlns:r="http://schemas.openxmlformats.org/officeDocument/2006/relationships" id="257" r:id="Rb4aa86a987f64e5b"/>
    <p:sldId xmlns:r="http://schemas.openxmlformats.org/officeDocument/2006/relationships" id="258" r:id="Re437d3974e414dc9"/>
    <p:sldId xmlns:r="http://schemas.openxmlformats.org/officeDocument/2006/relationships" id="259" r:id="R25cb15c01fc4431c"/>
    <p:sldId xmlns:r="http://schemas.openxmlformats.org/officeDocument/2006/relationships" id="260" r:id="Rf166b2d600d948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a9773015c64e09" /><Relationship Type="http://schemas.openxmlformats.org/officeDocument/2006/relationships/slideMaster" Target="/ppt/slideMasters/slideMaster1.xml" Id="Rb63a0b36c1054a0b" /><Relationship Type="http://schemas.openxmlformats.org/officeDocument/2006/relationships/notesMaster" Target="/ppt/notesMasters/notesMaster1.xml" Id="R29862a70759d474e" /><Relationship Type="http://schemas.openxmlformats.org/officeDocument/2006/relationships/presProps" Target="/ppt/presProps.xml" Id="R767843c43cb74695" /><Relationship Type="http://schemas.openxmlformats.org/officeDocument/2006/relationships/tableStyles" Target="/ppt/tableStyles.xml" Id="Raf8aabd0704a44c3" /><Relationship Type="http://schemas.openxmlformats.org/officeDocument/2006/relationships/slide" Target="/ppt/slides/slide1.xml" Id="Rf944065839034fcf" /><Relationship Type="http://schemas.openxmlformats.org/officeDocument/2006/relationships/slide" Target="/ppt/slides/slide2.xml" Id="Rb4aa86a987f64e5b" /><Relationship Type="http://schemas.openxmlformats.org/officeDocument/2006/relationships/slide" Target="/ppt/slides/slide3.xml" Id="Re437d3974e414dc9" /><Relationship Type="http://schemas.openxmlformats.org/officeDocument/2006/relationships/slide" Target="/ppt/slides/slide4.xml" Id="R25cb15c01fc4431c" /><Relationship Type="http://schemas.openxmlformats.org/officeDocument/2006/relationships/slide" Target="/ppt/slides/slide5.xml" Id="Rf166b2d600d948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0f7c8b43d446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2853ecfd15448e" /><Relationship Type="http://schemas.openxmlformats.org/officeDocument/2006/relationships/notesMaster" Target="/ppt/notesMasters/notesMaster1.xml" Id="R2eb6117badcc4e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599b039fa24d05" /><Relationship Type="http://schemas.openxmlformats.org/officeDocument/2006/relationships/notesMaster" Target="/ppt/notesMasters/notesMaster1.xml" Id="Raa8f80c3c3d64a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e359c3ce5a493c" /><Relationship Type="http://schemas.openxmlformats.org/officeDocument/2006/relationships/notesMaster" Target="/ppt/notesMasters/notesMaster1.xml" Id="R96743a79971541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b585b04f734291" /><Relationship Type="http://schemas.openxmlformats.org/officeDocument/2006/relationships/notesMaster" Target="/ppt/notesMasters/notesMaster1.xml" Id="Ra90bf026663246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3af3a0a2fe4fa5" /><Relationship Type="http://schemas.openxmlformats.org/officeDocument/2006/relationships/notesMaster" Target="/ppt/notesMasters/notesMaster1.xml" Id="R9365d56bde9a43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product promise: Try This helps a family move from ‘what should we do?’ to doing one genuinely playable thing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Founder and family context supplied by Kumar Sridharamurthy and Lavanya Shirur Sudhakar.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Tell the family story briefly. The product starts from lived friction: plenty of possible activities, but no energy for browsing and adapting them in the moment.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Founder and family context supplied by Kumar Sridharamurthy and Lavanya Shirur Sudhakar.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screen from top to bottom. The home flow deliberately avoids a catalogue-first experience and gives the parent one clear next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product screenshot: /Users/lavanya/Desktop/screenshots/homepage.png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Family Guess Who as the proof point. The product is not just a database of titles; each page gives a parent the first line, the rules, and ways to adapt the activity.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product screenshot: /Users/lavanya/Desktop/screenshots/familyGuess.png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emotional outcome. Invite the audience to try the product at trythis.fun and ask for feedback from families who also struggle with the ‘what should we do?’ moment.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URL supplied by the founders: https://trythis.fun</a:t>
            </a:r>
          </a:p>
          <a:p xmlns:a="http://schemas.openxmlformats.org/drawingml/2006/main">
            <a:r>
              <a:t>- Founder names supplied by Kumar Sridharamurthy and Lavanya Shirur Sudhakar.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ba03ce1cf40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10dcf19723443f" /><Relationship Type="http://schemas.openxmlformats.org/officeDocument/2006/relationships/slideLayout" Target="/ppt/slideLayouts/slideLayout1.xml" Id="R3d4703396da949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4703396da949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1951841284386" /><Relationship Type="http://schemas.openxmlformats.org/officeDocument/2006/relationships/notesSlide" Target="/ppt/notesSlides/notesSlide1.xml" Id="R4abf648d2f2345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da36086384938" /><Relationship Type="http://schemas.openxmlformats.org/officeDocument/2006/relationships/notesSlide" Target="/ppt/notesSlides/notesSlide2.xml" Id="R75238327f66545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11f58bb554a3a" /><Relationship Type="http://schemas.openxmlformats.org/officeDocument/2006/relationships/image" Target="/ppt/media/image.png" Id="R14c9aec595cd4836" /><Relationship Type="http://schemas.openxmlformats.org/officeDocument/2006/relationships/notesSlide" Target="/ppt/notesSlides/notesSlide3.xml" Id="Rad2cfd8499e740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aae4729384dfe" /><Relationship Type="http://schemas.openxmlformats.org/officeDocument/2006/relationships/image" Target="/ppt/media/image2.png" Id="Rc190f2f5c71b4980" /><Relationship Type="http://schemas.openxmlformats.org/officeDocument/2006/relationships/notesSlide" Target="/ppt/notesSlides/notesSlide4.xml" Id="R5f051bf1fb0740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886407a4b4851" /><Relationship Type="http://schemas.openxmlformats.org/officeDocument/2006/relationships/notesSlide" Target="/ppt/notesSlides/notesSlide5.xml" Id="R2dde8107ea014d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15B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045C3B-2F5D-4FCA-B8FF-83F636C2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34700" cy="567690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38100">
            <a:solidFill>
              <a:srgbClr val="18223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D05F4-A8F7-4691-A103-91CF2105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477500" cy="52197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D55A"/>
          </a:solidFill>
          <a:ln xmlns:a="http://schemas.openxmlformats.org/drawingml/2006/main" w="38100">
            <a:solidFill>
              <a:srgbClr val="18223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BB1EE-E492-44CB-B456-17DA7CA4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886700" y="1314450"/>
            <a:ext cx="1581150" cy="20002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38100">
            <a:solidFill>
              <a:srgbClr val="18223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0A37A-3B94-41B9-92E5-122F4EC2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20000">
            <a:off x="9096375" y="2343150"/>
            <a:ext cx="18478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38100">
            <a:solidFill>
              <a:srgbClr val="18223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733F2-738D-4413-AEA7-5AA318A7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8191500" y="1866900"/>
            <a:ext cx="100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8223B"/>
                </a:solidFill>
              </a:defRPr>
            </a:pPr>
            <a:r>
              <a:rPr sz="4350" b="1">
                <a:solidFill>
                  <a:srgbClr val="18223B"/>
                </a:solidFill>
              </a:rPr>
              <a:t>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9E84A-E4F6-4057-A226-0C02901B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20000">
            <a:off x="9315450" y="263842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23B"/>
                </a:solidFill>
              </a:defRPr>
            </a:pPr>
            <a:r>
              <a:rPr sz="2100" b="1">
                <a:solidFill>
                  <a:srgbClr val="18223B"/>
                </a:solidFill>
              </a:rPr>
              <a:t>TRY 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E59E9F-4B2D-4044-9CA4-2FEE33DC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9540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BD9"/>
                </a:solidFill>
              </a:defRPr>
            </a:pPr>
            <a:r>
              <a:rPr sz="1125" b="1">
                <a:solidFill>
                  <a:srgbClr val="315BD9"/>
                </a:solidFill>
              </a:rPr>
              <a:t>FOR FAMILIES WITH A FEW MINUTES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AA2F3-226A-4C32-B78C-1F053274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24050"/>
            <a:ext cx="590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8223B"/>
                </a:solidFill>
              </a:defRPr>
            </a:pPr>
            <a:r>
              <a:rPr sz="5400" b="1">
                <a:solidFill>
                  <a:srgbClr val="18223B"/>
                </a:solidFill>
              </a:rPr>
              <a:t>Try This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0384E-D692-45E7-BE3D-4B1DED04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9900"/>
            <a:ext cx="5905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23B"/>
                </a:solidFill>
              </a:defRPr>
            </a:pPr>
            <a:r>
              <a:rPr sz="2850" b="1">
                <a:solidFill>
                  <a:srgbClr val="18223B"/>
                </a:solidFill>
              </a:rPr>
              <a:t>Less deciding.</a:t>
            </a:r>
          </a:p>
          <a:p xmlns:a="http://schemas.openxmlformats.org/drawingml/2006/main">
            <a:pPr>
              <a:defRPr sz="2850" b="1">
                <a:solidFill>
                  <a:srgbClr val="18223B"/>
                </a:solidFill>
              </a:defRPr>
            </a:pPr>
            <a:r>
              <a:rPr sz="2850" b="1">
                <a:solidFill>
                  <a:srgbClr val="18223B"/>
                </a:solidFill>
              </a:rPr>
              <a:t>More doing.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519C6-9C6D-4E93-B736-E373A71E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05375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23B"/>
                </a:solidFill>
              </a:defRPr>
            </a:pPr>
            <a:r>
              <a:rPr sz="1350" b="1">
                <a:solidFill>
                  <a:srgbClr val="18223B"/>
                </a:solidFill>
              </a:rPr>
              <a:t>Kumar Sridharamurthy  +  Lavanya Shirur Sudhakar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E81408-BD74-449E-BF3B-9CCF76F6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530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223B"/>
                </a:solidFill>
              </a:defRPr>
            </a:pPr>
            <a:r>
              <a:rPr sz="1200" b="0">
                <a:solidFill>
                  <a:srgbClr val="18223B"/>
                </a:solidFill>
              </a:rPr>
              <a:t>Husband-and-wife team · parents of a 6-year-old and a 2-year-old</a:t>
            </a:r>
          </a:p>
        </p:txBody>
      </p:sp>
    </p:spTree>
    <p:extLst>
      <p:ext uri="{BB962C8B-B14F-4D97-AF65-F5344CB8AC3E}">
        <p14:creationId xmlns:p14="http://schemas.microsoft.com/office/powerpoint/2010/main" val="10413122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20C32A-3914-4E7F-8440-746971C7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BD9"/>
                </a:solidFill>
              </a:defRPr>
            </a:pPr>
            <a:r>
              <a:rPr sz="1125" b="1">
                <a:solidFill>
                  <a:srgbClr val="315BD9"/>
                </a:solidFill>
              </a:rPr>
              <a:t>THE PROBLEM IS PERSONAL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2077C-1F1A-420E-94E1-982C9FD1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6286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8223B"/>
                </a:solidFill>
              </a:defRPr>
            </a:pPr>
            <a:r>
              <a:rPr sz="3750" b="1">
                <a:solidFill>
                  <a:srgbClr val="18223B"/>
                </a:solidFill>
              </a:rPr>
              <a:t>We built this for</a:t>
            </a:r>
          </a:p>
          <a:p xmlns:a="http://schemas.openxmlformats.org/drawingml/2006/main">
            <a:pPr>
              <a:defRPr sz="3750" b="1">
                <a:solidFill>
                  <a:srgbClr val="18223B"/>
                </a:solidFill>
              </a:defRPr>
            </a:pPr>
            <a:r>
              <a:rPr sz="3750" b="1">
                <a:solidFill>
                  <a:srgbClr val="18223B"/>
                </a:solidFill>
              </a:rPr>
              <a:t>our own family.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3F4ABD-0549-4E68-A083-43CA006B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738D"/>
                </a:solidFill>
              </a:defRPr>
            </a:pPr>
            <a:r>
              <a:rPr sz="1725" b="0">
                <a:solidFill>
                  <a:srgbClr val="68738D"/>
                </a:solidFill>
              </a:rPr>
              <a:t>Two working parents. A curious 6-year-old. A fearless 2-year-old. And a handful of minutes that too often disappeared while we searched for something to 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1DB9A-FD10-4AA9-B395-D5E5F6A1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781050"/>
            <a:ext cx="4324350" cy="4533900"/>
          </a:xfrm>
          <a:prstGeom xmlns:a="http://schemas.openxmlformats.org/drawingml/2006/main" prst="roundRect">
            <a:avLst>
              <a:gd name="adj" fmla="val 3524"/>
            </a:avLst>
          </a:prstGeom>
          <a:solidFill xmlns:a="http://schemas.openxmlformats.org/drawingml/2006/main">
            <a:srgbClr val="F3F1E8"/>
          </a:solidFill>
          <a:ln xmlns:a="http://schemas.openxmlformats.org/drawingml/2006/main" w="38100">
            <a:solidFill>
              <a:srgbClr val="18223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6D4EE-D3A5-40E1-9D15-13970EA8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104900"/>
            <a:ext cx="1143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315BD9"/>
                </a:solidFill>
              </a:defRPr>
            </a:pPr>
            <a:r>
              <a:rPr sz="5400" b="1">
                <a:solidFill>
                  <a:srgbClr val="315BD9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D9027-CB11-4085-8046-5C5599B9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7645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23B"/>
                </a:solidFill>
              </a:defRPr>
            </a:pPr>
            <a:r>
              <a:rPr sz="1350" b="1">
                <a:solidFill>
                  <a:srgbClr val="18223B"/>
                </a:solidFill>
              </a:rPr>
              <a:t>parents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35277-D08A-43DA-A0A8-BF97C701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42875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8223B"/>
                </a:solidFill>
              </a:defRPr>
            </a:pPr>
            <a:r>
              <a:rPr sz="3750" b="1">
                <a:solidFill>
                  <a:srgbClr val="18223B"/>
                </a:solidFill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75810-8E1E-45FB-9A26-320C2660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104900"/>
            <a:ext cx="1143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6961"/>
                </a:solidFill>
              </a:defRPr>
            </a:pPr>
            <a:r>
              <a:rPr sz="5400" b="1">
                <a:solidFill>
                  <a:srgbClr val="FF6961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DCE1B1-2F1A-433F-B2C4-496C7DBF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7645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23B"/>
                </a:solidFill>
              </a:defRPr>
            </a:pPr>
            <a:r>
              <a:rPr sz="1350" b="1">
                <a:solidFill>
                  <a:srgbClr val="18223B"/>
                </a:solidFill>
              </a:rPr>
              <a:t>kids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4F31DC-0242-4F3D-906D-D4562BA6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81300"/>
            <a:ext cx="33909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D55A"/>
          </a:solidFill>
          <a:ln xmlns:a="http://schemas.openxmlformats.org/drawingml/2006/main" w="28575">
            <a:solidFill>
              <a:srgbClr val="1822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0AA2D4-0C4B-48D1-ADA0-D4286608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146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23B"/>
                </a:solidFill>
              </a:defRPr>
            </a:pPr>
            <a:r>
              <a:rPr sz="2025" b="1">
                <a:solidFill>
                  <a:srgbClr val="18223B"/>
                </a:solidFill>
              </a:rPr>
              <a:t>5 spare minutes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C67CEA-29D2-4BBE-B108-3841EC82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05175"/>
            <a:ext cx="297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23B"/>
                </a:solidFill>
              </a:defRPr>
            </a:pPr>
            <a:r>
              <a:rPr sz="1275" b="0">
                <a:solidFill>
                  <a:srgbClr val="18223B"/>
                </a:solidFill>
              </a:rPr>
              <a:t>should feel like an opportunity —</a:t>
            </a:r>
          </a:p>
          <a:p xmlns:a="http://schemas.openxmlformats.org/drawingml/2006/main">
            <a:pPr>
              <a:defRPr sz="1275" b="0">
                <a:solidFill>
                  <a:srgbClr val="18223B"/>
                </a:solidFill>
              </a:defRPr>
            </a:pPr>
            <a:r>
              <a:rPr sz="1275" b="0">
                <a:solidFill>
                  <a:srgbClr val="18223B"/>
                </a:solidFill>
              </a:rPr>
              <a:t>not another decision.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BA464-7832-4890-85E9-37360596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229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D6B1"/>
          </a:solidFill>
          <a:ln xmlns:a="http://schemas.openxmlformats.org/drawingml/2006/main" w="19050">
            <a:solidFill>
              <a:srgbClr val="1822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56CFB2-A23F-4E09-A2F2-355556DE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29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55A"/>
          </a:solidFill>
          <a:ln xmlns:a="http://schemas.openxmlformats.org/drawingml/2006/main" w="19050">
            <a:solidFill>
              <a:srgbClr val="1822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655654-A498-48A0-BE55-B1BCD8D8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229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8BEA"/>
          </a:solidFill>
          <a:ln xmlns:a="http://schemas.openxmlformats.org/drawingml/2006/main" w="19050">
            <a:solidFill>
              <a:srgbClr val="1822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78F79D-7E79-4703-BC2A-727B51D3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229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961"/>
          </a:solidFill>
          <a:ln xmlns:a="http://schemas.openxmlformats.org/drawingml/2006/main" w="19050">
            <a:solidFill>
              <a:srgbClr val="1822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E3AC8A-192B-4386-A7AC-56B50938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590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23B"/>
                </a:solidFill>
              </a:defRPr>
            </a:pPr>
            <a:r>
              <a:rPr sz="2100" b="1">
                <a:solidFill>
                  <a:srgbClr val="18223B"/>
                </a:solidFill>
              </a:rPr>
              <a:t>The real friction wasn’t a lack of ideas.</a:t>
            </a:r>
          </a:p>
          <a:p xmlns:a="http://schemas.openxmlformats.org/drawingml/2006/main">
            <a:pPr>
              <a:defRPr sz="2100" b="1">
                <a:solidFill>
                  <a:srgbClr val="18223B"/>
                </a:solidFill>
              </a:defRPr>
            </a:pPr>
            <a:r>
              <a:rPr sz="2100" b="1">
                <a:solidFill>
                  <a:srgbClr val="18223B"/>
                </a:solidFill>
              </a:rPr>
              <a:t>It was choosing the right one, right 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93270B-896E-4695-8A2E-3ED6EAAF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38D"/>
                </a:solidFill>
              </a:defRPr>
            </a:pPr>
            <a:r>
              <a:rPr sz="900" b="1">
                <a:solidFill>
                  <a:srgbClr val="68738D"/>
                </a:solidFill>
              </a:rPr>
              <a:t>TRYTHIS.FUN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82146-99FC-4DE8-9841-8DB4F1FB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38D"/>
                </a:solidFill>
              </a:defRPr>
            </a:pPr>
            <a:r>
              <a:rPr sz="900" b="1">
                <a:solidFill>
                  <a:srgbClr val="68738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45258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A218B2-0E34-4907-BB8B-1DA81483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BD9"/>
                </a:solidFill>
              </a:defRPr>
            </a:pPr>
            <a:r>
              <a:rPr sz="1125" b="1">
                <a:solidFill>
                  <a:srgbClr val="315BD9"/>
                </a:solidFill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CAA88-0D31-4F83-BDD4-AA527436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6286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223B"/>
                </a:solidFill>
              </a:defRPr>
            </a:pPr>
            <a:r>
              <a:rPr sz="3450" b="1">
                <a:solidFill>
                  <a:srgbClr val="18223B"/>
                </a:solidFill>
              </a:rPr>
              <a:t>One good idea beats</a:t>
            </a:r>
          </a:p>
          <a:p xmlns:a="http://schemas.openxmlformats.org/drawingml/2006/main">
            <a:pPr>
              <a:defRPr sz="3450" b="1">
                <a:solidFill>
                  <a:srgbClr val="18223B"/>
                </a:solidFill>
              </a:defRPr>
            </a:pPr>
            <a:r>
              <a:rPr sz="3450" b="1">
                <a:solidFill>
                  <a:srgbClr val="18223B"/>
                </a:solidFill>
              </a:rPr>
              <a:t>another endless list.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55491-0C99-4C3A-9600-9DFB756A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505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38D"/>
                </a:solidFill>
              </a:defRPr>
            </a:pPr>
            <a:r>
              <a:rPr sz="1575" b="0">
                <a:solidFill>
                  <a:srgbClr val="68738D"/>
                </a:solidFill>
              </a:rPr>
              <a:t>Try This asks only what matters in this moment — the mood, setup, and number of players — then recommends one activity.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2CA37-4AB3-4343-BC66-F932B71F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55A"/>
          </a:solidFill>
          <a:ln xmlns:a="http://schemas.openxmlformats.org/drawingml/2006/main" w="19050">
            <a:solidFill>
              <a:srgbClr val="18223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68DBD-1219-4CD7-AEB8-888FDDAB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19475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23B"/>
                </a:solidFill>
              </a:defRPr>
            </a:pPr>
            <a:r>
              <a:rPr sz="1500" b="1">
                <a:solidFill>
                  <a:srgbClr val="18223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9D9DA-4818-406D-B38C-BBA9CDA1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90900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23B"/>
                </a:solidFill>
              </a:defRPr>
            </a:pPr>
            <a:r>
              <a:rPr sz="1725" b="1">
                <a:solidFill>
                  <a:srgbClr val="18223B"/>
                </a:solidFill>
              </a:rPr>
              <a:t>Pick the moment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EAA16-D832-44D1-934F-2D3DF75B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D6B1"/>
          </a:solidFill>
          <a:ln xmlns:a="http://schemas.openxmlformats.org/drawingml/2006/main" w="19050">
            <a:solidFill>
              <a:srgbClr val="1822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48501-7D69-4358-964C-471A22B0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00525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23B"/>
                </a:solidFill>
              </a:defRPr>
            </a:pPr>
            <a:r>
              <a:rPr sz="1500" b="1">
                <a:solidFill>
                  <a:srgbClr val="18223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C4276C-27B8-4876-AE12-DB5BD85C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71950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23B"/>
                </a:solidFill>
              </a:defRPr>
            </a:pPr>
            <a:r>
              <a:rPr sz="1725" b="1">
                <a:solidFill>
                  <a:srgbClr val="18223B"/>
                </a:solidFill>
              </a:rPr>
              <a:t>Get one matched idea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484EEE-E418-43E5-922B-31B838A7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961"/>
          </a:solidFill>
          <a:ln xmlns:a="http://schemas.openxmlformats.org/drawingml/2006/main" w="19050">
            <a:solidFill>
              <a:srgbClr val="1822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7D0D7A-DC75-40DA-95AF-F67C0C7E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81575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23B"/>
                </a:solidFill>
              </a:defRPr>
            </a:pPr>
            <a:r>
              <a:rPr sz="1500" b="1">
                <a:solidFill>
                  <a:srgbClr val="18223B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8C6082-3920-417B-8BAD-DAB6DB58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53000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23B"/>
                </a:solidFill>
              </a:defRPr>
            </a:pPr>
            <a:r>
              <a:rPr sz="1725" b="1">
                <a:solidFill>
                  <a:srgbClr val="18223B"/>
                </a:solidFill>
              </a:rPr>
              <a:t>Start playing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4F2CC4-39D5-4970-86EE-2A15514C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2900"/>
            <a:ext cx="4000500" cy="60579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315BD9"/>
          </a:solidFill>
          <a:ln xmlns:a="http://schemas.openxmlformats.org/drawingml/2006/main" w="38100">
            <a:solidFill>
              <a:srgbClr val="18223B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9aec595cd4836"/>
          <a:stretch xmlns:a="http://schemas.openxmlformats.org/drawingml/2006/main"/>
        </p:blipFill>
        <p:spPr>
          <a:xfrm xmlns:a="http://schemas.openxmlformats.org/drawingml/2006/main">
            <a:off x="7723867" y="533400"/>
            <a:ext cx="2649767" cy="56769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B6006D-CA3D-42B1-8548-951AB842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38D"/>
                </a:solidFill>
              </a:defRPr>
            </a:pPr>
            <a:r>
              <a:rPr sz="900" b="1">
                <a:solidFill>
                  <a:srgbClr val="68738D"/>
                </a:solidFill>
              </a:rPr>
              <a:t>TRYTHIS.FUN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D911D-0681-44E1-BAB6-BFF12F85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38D"/>
                </a:solidFill>
              </a:defRPr>
            </a:pPr>
            <a:r>
              <a:rPr sz="900" b="1">
                <a:solidFill>
                  <a:srgbClr val="68738D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899197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82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0225A7-3373-4FD5-ABA0-E592DBD5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962400" cy="6076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0f2f5c71b4980"/>
          <a:stretch xmlns:a="http://schemas.openxmlformats.org/drawingml/2006/main"/>
        </p:blipFill>
        <p:spPr>
          <a:xfrm xmlns:a="http://schemas.openxmlformats.org/drawingml/2006/main">
            <a:off x="1112211" y="552450"/>
            <a:ext cx="2804777" cy="57721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E3670-D82D-4DFC-9ED3-17F9B1DC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85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D55A"/>
                </a:solidFill>
              </a:defRPr>
            </a:pPr>
            <a:r>
              <a:rPr sz="1125" b="1">
                <a:solidFill>
                  <a:srgbClr val="FFD55A"/>
                </a:solidFill>
              </a:rPr>
              <a:t>THE DIFFERENCE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9A1E6-7230-457D-84EB-2E27241C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066800"/>
            <a:ext cx="638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DF6"/>
                </a:solidFill>
              </a:defRPr>
            </a:pPr>
            <a:r>
              <a:rPr sz="3300" b="1">
                <a:solidFill>
                  <a:srgbClr val="FFFDF6"/>
                </a:solidFill>
              </a:rPr>
              <a:t>An idea is only useful</a:t>
            </a:r>
          </a:p>
          <a:p xmlns:a="http://schemas.openxmlformats.org/drawingml/2006/main">
            <a:pPr>
              <a:defRPr sz="3300" b="1">
                <a:solidFill>
                  <a:srgbClr val="FFFDF6"/>
                </a:solidFill>
              </a:defRPr>
            </a:pPr>
            <a:r>
              <a:rPr sz="3300" b="1">
                <a:solidFill>
                  <a:srgbClr val="FFFDF6"/>
                </a:solidFill>
              </a:rPr>
              <a:t>if you can play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34BFB-7848-4565-9EE4-5F9CE528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43150"/>
            <a:ext cx="590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9D2EA"/>
                </a:solidFill>
              </a:defRPr>
            </a:pPr>
            <a:r>
              <a:rPr sz="1575" b="0">
                <a:solidFill>
                  <a:srgbClr val="C9D2EA"/>
                </a:solidFill>
              </a:rPr>
              <a:t>Every activity is written to answer the questions a tired parent actually has: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14E4D-4D23-4D7F-9C1A-FE1DB558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05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55A"/>
          </a:solidFill>
          <a:ln xmlns:a="http://schemas.openxmlformats.org/drawingml/2006/main" w="19050">
            <a:solidFill>
              <a:srgbClr val="1822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289F3-16E1-4D1C-92A2-C02C1230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242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223B"/>
                </a:solidFill>
              </a:defRPr>
            </a:pPr>
            <a:r>
              <a:rPr sz="1275" b="1">
                <a:solidFill>
                  <a:srgbClr val="18223B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D3BE8-CA97-4FA1-9E9D-3832306E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575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DF6"/>
                </a:solidFill>
              </a:defRPr>
            </a:pPr>
            <a:r>
              <a:rPr sz="1650" b="1">
                <a:solidFill>
                  <a:srgbClr val="FFFDF6"/>
                </a:solidFill>
              </a:rPr>
              <a:t>How do we start?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433F9-F986-4F24-9A1F-95BE2665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8140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D2EA"/>
                </a:solidFill>
              </a:defRPr>
            </a:pPr>
            <a:r>
              <a:rPr sz="1200" b="0">
                <a:solidFill>
                  <a:srgbClr val="C9D2EA"/>
                </a:solidFill>
              </a:rPr>
              <a:t>A line you can say out loud.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F958E-8B37-4BB9-83C1-6EEFC56C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814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D6B1"/>
          </a:solidFill>
          <a:ln xmlns:a="http://schemas.openxmlformats.org/drawingml/2006/main" w="19050">
            <a:solidFill>
              <a:srgbClr val="1822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E2B12-16F9-4FD1-ABE9-B09BF87D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005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223B"/>
                </a:solidFill>
              </a:defRPr>
            </a:pPr>
            <a:r>
              <a:rPr sz="1275" b="1">
                <a:solidFill>
                  <a:srgbClr val="18223B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7D8118-8BAD-4F24-8D9B-34ABD1C8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338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DF6"/>
                </a:solidFill>
              </a:defRPr>
            </a:pPr>
            <a:r>
              <a:rPr sz="1650" b="1">
                <a:solidFill>
                  <a:srgbClr val="FFFDF6"/>
                </a:solidFill>
              </a:rPr>
              <a:t>What do we do next?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3711F-075D-4FF4-841B-F6FDC487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5770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D2EA"/>
                </a:solidFill>
              </a:defRPr>
            </a:pPr>
            <a:r>
              <a:rPr sz="1200" b="0">
                <a:solidFill>
                  <a:srgbClr val="C9D2EA"/>
                </a:solidFill>
              </a:rPr>
              <a:t>Clear, specific play instructions.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D08C4E-3DE5-4A03-95A3-E75CAA91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057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8BEA"/>
          </a:solidFill>
          <a:ln xmlns:a="http://schemas.openxmlformats.org/drawingml/2006/main" w="19050">
            <a:solidFill>
              <a:srgbClr val="1822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D27936-1A0A-41EA-A755-BA43AF16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0768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223B"/>
                </a:solidFill>
              </a:defRPr>
            </a:pPr>
            <a:r>
              <a:rPr sz="1275" b="1">
                <a:solidFill>
                  <a:srgbClr val="18223B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CA57C2-83E5-44A3-9B39-B0C08C49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0101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DF6"/>
                </a:solidFill>
              </a:defRPr>
            </a:pPr>
            <a:r>
              <a:rPr sz="1650" b="1">
                <a:solidFill>
                  <a:srgbClr val="FFFDF6"/>
                </a:solidFill>
              </a:rPr>
              <a:t>How can it fit us?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EEDBAD-8943-417A-9C9B-AA100B14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33400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D2EA"/>
                </a:solidFill>
              </a:defRPr>
            </a:pPr>
            <a:r>
              <a:rPr sz="1200" b="0">
                <a:solidFill>
                  <a:srgbClr val="C9D2EA"/>
                </a:solidFill>
              </a:rPr>
              <a:t>Easier and harder variations.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C3DE06-48B4-4471-BC0C-C776C748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3817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DF6"/>
                </a:solidFill>
              </a:defRPr>
            </a:pPr>
            <a:r>
              <a:rPr sz="900" b="1">
                <a:solidFill>
                  <a:srgbClr val="FFFDF6"/>
                </a:solidFill>
              </a:rPr>
              <a:t>TRYTHIS.FUN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2555FF-A304-41CC-A07F-AF66BB16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DF6"/>
                </a:solidFill>
              </a:defRPr>
            </a:pPr>
            <a:r>
              <a:rPr sz="900" b="1">
                <a:solidFill>
                  <a:srgbClr val="FFFDF6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642323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315B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4F10D3-14E9-4376-8411-F704FC3F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626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38100">
            <a:solidFill>
              <a:srgbClr val="18223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43062-C749-4DEC-9612-ECF175B5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104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BD9"/>
                </a:solidFill>
              </a:defRPr>
            </a:pPr>
            <a:r>
              <a:rPr sz="1125" b="1">
                <a:solidFill>
                  <a:srgbClr val="315BD9"/>
                </a:solidFill>
              </a:rPr>
              <a:t>OUR GOAL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3A571-B539-447D-82DF-8F47E403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24000"/>
            <a:ext cx="7734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223B"/>
                </a:solidFill>
              </a:defRPr>
            </a:pPr>
            <a:r>
              <a:rPr sz="3900" b="1">
                <a:solidFill>
                  <a:srgbClr val="18223B"/>
                </a:solidFill>
              </a:rPr>
              <a:t>Turn five spare minutes</a:t>
            </a:r>
          </a:p>
          <a:p xmlns:a="http://schemas.openxmlformats.org/drawingml/2006/main">
            <a:pPr>
              <a:defRPr sz="3900" b="1">
                <a:solidFill>
                  <a:srgbClr val="18223B"/>
                </a:solidFill>
              </a:defRPr>
            </a:pPr>
            <a:r>
              <a:rPr sz="3900" b="1">
                <a:solidFill>
                  <a:srgbClr val="18223B"/>
                </a:solidFill>
              </a:rPr>
              <a:t>into a shared memory.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52585-4535-4032-8C78-06374437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8738D"/>
                </a:solidFill>
              </a:defRPr>
            </a:pPr>
            <a:r>
              <a:rPr sz="1650" b="0">
                <a:solidFill>
                  <a:srgbClr val="68738D"/>
                </a:solidFill>
              </a:rPr>
              <a:t>Try This helps families spend less time choosing — and more time laughing, making, moving, talking, and being together.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E8164-5ECF-47CB-AD2F-2A592958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57700"/>
            <a:ext cx="36957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D55A"/>
          </a:solidFill>
          <a:ln xmlns:a="http://schemas.openxmlformats.org/drawingml/2006/main" w="28575">
            <a:solidFill>
              <a:srgbClr val="1822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8E91C-934D-4CD0-98C4-05FA2CBF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62475"/>
            <a:ext cx="331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23B"/>
                </a:solidFill>
              </a:defRPr>
            </a:pPr>
            <a:r>
              <a:rPr sz="2025" b="1">
                <a:solidFill>
                  <a:srgbClr val="18223B"/>
                </a:solidFill>
              </a:rPr>
              <a:t>trythis.fun  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12EB2-4DF5-4826-8F5F-AC3EF53B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9067800" y="952500"/>
            <a:ext cx="1619250" cy="20193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68D6B1"/>
          </a:solidFill>
          <a:ln xmlns:a="http://schemas.openxmlformats.org/drawingml/2006/main" w="38100">
            <a:solidFill>
              <a:srgbClr val="1822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9EE7F-3F8C-4FB4-AAE1-556BD563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60000">
            <a:off x="9296400" y="2762250"/>
            <a:ext cx="1809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6961"/>
          </a:solidFill>
          <a:ln xmlns:a="http://schemas.openxmlformats.org/drawingml/2006/main" w="38100">
            <a:solidFill>
              <a:srgbClr val="1822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D4DED-A48E-44B6-B2A0-1510C99E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9334500" y="1466850"/>
            <a:ext cx="1066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8223B"/>
                </a:solidFill>
              </a:defRPr>
            </a:pPr>
            <a:r>
              <a:rPr sz="4050" b="1">
                <a:solidFill>
                  <a:srgbClr val="18223B"/>
                </a:solidFill>
              </a:rPr>
              <a:t>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B206CF-C594-4805-BC03-505DDB99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60000">
            <a:off x="9467850" y="3105150"/>
            <a:ext cx="139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23B"/>
                </a:solidFill>
              </a:defRPr>
            </a:pPr>
            <a:r>
              <a:rPr sz="2025" b="1">
                <a:solidFill>
                  <a:srgbClr val="18223B"/>
                </a:solidFill>
              </a:rPr>
              <a:t>TRY 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A972A-81D6-4EA4-8BD7-9B1D2F74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340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223B"/>
                </a:solidFill>
              </a:defRPr>
            </a:pPr>
            <a:r>
              <a:rPr sz="1125" b="1">
                <a:solidFill>
                  <a:srgbClr val="18223B"/>
                </a:solidFill>
              </a:rPr>
              <a:t>Kumar Sridharamurthy  +  Lavanya Shirur Sudhakar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29E659-AF5A-49A2-B399-A46787F2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715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8738D"/>
                </a:solidFill>
              </a:defRPr>
            </a:pPr>
            <a:r>
              <a:rPr sz="1050" b="0">
                <a:solidFill>
                  <a:srgbClr val="68738D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411786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2026-07-31T23:24:44.5540000Z</dcterms:created>
  <dcterms:modified xsi:type="dcterms:W3CDTF">2026-07-31T23:24:44.5550000Z</dcterms:modified>
</coreProperties>
</file>