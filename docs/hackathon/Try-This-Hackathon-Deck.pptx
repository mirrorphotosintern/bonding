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3933789c774118" /><Relationship Type="http://schemas.openxmlformats.org/officeDocument/2006/relationships/extended-properties" Target="/docProps/app.xml" Id="R24a8db92a8aa4f83" /><Relationship Type="http://schemas.openxmlformats.org/officeDocument/2006/relationships/officeDocument" Target="/ppt/presentation.xml" Id="Rdb6bf56175bb48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ca4ab179ab54665"/>
  </p:sldMasterIdLst>
  <p:notesMasterIdLst>
    <p:notesMasterId xmlns:r="http://schemas.openxmlformats.org/officeDocument/2006/relationships" r:id="Ra831c50ef89245a3"/>
  </p:notesMasterIdLst>
  <p:sldIdLst>
    <p:sldId xmlns:r="http://schemas.openxmlformats.org/officeDocument/2006/relationships" id="256" r:id="R646cf0972e0e4099"/>
    <p:sldId xmlns:r="http://schemas.openxmlformats.org/officeDocument/2006/relationships" id="257" r:id="Rb69aaae1490e4b5e"/>
    <p:sldId xmlns:r="http://schemas.openxmlformats.org/officeDocument/2006/relationships" id="258" r:id="R55931a51dbb04859"/>
    <p:sldId xmlns:r="http://schemas.openxmlformats.org/officeDocument/2006/relationships" id="259" r:id="R1d57906e104340d7"/>
    <p:sldId xmlns:r="http://schemas.openxmlformats.org/officeDocument/2006/relationships" id="260" r:id="Re7cec37891a244f9"/>
    <p:sldId xmlns:r="http://schemas.openxmlformats.org/officeDocument/2006/relationships" id="261" r:id="Rd98b8a2078ff4e87"/>
    <p:sldId xmlns:r="http://schemas.openxmlformats.org/officeDocument/2006/relationships" id="262" r:id="R813cc10205034706"/>
    <p:sldId xmlns:r="http://schemas.openxmlformats.org/officeDocument/2006/relationships" id="263" r:id="R1bfdefec1cb04380"/>
    <p:sldId xmlns:r="http://schemas.openxmlformats.org/officeDocument/2006/relationships" id="264" r:id="R18a92405822d4d4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858e7f093064523" /><Relationship Type="http://schemas.openxmlformats.org/officeDocument/2006/relationships/slideMaster" Target="/ppt/slideMasters/slideMaster1.xml" Id="Rcca4ab179ab54665" /><Relationship Type="http://schemas.openxmlformats.org/officeDocument/2006/relationships/notesMaster" Target="/ppt/notesMasters/notesMaster1.xml" Id="Ra831c50ef89245a3" /><Relationship Type="http://schemas.openxmlformats.org/officeDocument/2006/relationships/presProps" Target="/ppt/presProps.xml" Id="R64ed40b8ceab4429" /><Relationship Type="http://schemas.openxmlformats.org/officeDocument/2006/relationships/tableStyles" Target="/ppt/tableStyles.xml" Id="R91b7c08822454e2c" /><Relationship Type="http://schemas.openxmlformats.org/officeDocument/2006/relationships/slide" Target="/ppt/slides/slide1.xml" Id="R646cf0972e0e4099" /><Relationship Type="http://schemas.openxmlformats.org/officeDocument/2006/relationships/slide" Target="/ppt/slides/slide2.xml" Id="Rb69aaae1490e4b5e" /><Relationship Type="http://schemas.openxmlformats.org/officeDocument/2006/relationships/slide" Target="/ppt/slides/slide3.xml" Id="R55931a51dbb04859" /><Relationship Type="http://schemas.openxmlformats.org/officeDocument/2006/relationships/slide" Target="/ppt/slides/slide4.xml" Id="R1d57906e104340d7" /><Relationship Type="http://schemas.openxmlformats.org/officeDocument/2006/relationships/slide" Target="/ppt/slides/slide5.xml" Id="Re7cec37891a244f9" /><Relationship Type="http://schemas.openxmlformats.org/officeDocument/2006/relationships/slide" Target="/ppt/slides/slide6.xml" Id="Rd98b8a2078ff4e87" /><Relationship Type="http://schemas.openxmlformats.org/officeDocument/2006/relationships/slide" Target="/ppt/slides/slide7.xml" Id="R813cc10205034706" /><Relationship Type="http://schemas.openxmlformats.org/officeDocument/2006/relationships/slide" Target="/ppt/slides/slide8.xml" Id="R1bfdefec1cb04380" /><Relationship Type="http://schemas.openxmlformats.org/officeDocument/2006/relationships/slide" Target="/ppt/slides/slide9.xml" Id="R18a92405822d4d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1183d5cd8c4d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48f33b113c46d1" /><Relationship Type="http://schemas.openxmlformats.org/officeDocument/2006/relationships/notesMaster" Target="/ppt/notesMasters/notesMaster1.xml" Id="R45b58ba7fe7543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6e377041334fa3" /><Relationship Type="http://schemas.openxmlformats.org/officeDocument/2006/relationships/notesMaster" Target="/ppt/notesMasters/notesMaster1.xml" Id="Rc1475ca96459488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99f217140f4f9f" /><Relationship Type="http://schemas.openxmlformats.org/officeDocument/2006/relationships/notesMaster" Target="/ppt/notesMasters/notesMaster1.xml" Id="Re9e1095cfe2048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97485bc5d654f5a" /><Relationship Type="http://schemas.openxmlformats.org/officeDocument/2006/relationships/notesMaster" Target="/ppt/notesMasters/notesMaster1.xml" Id="R575ef36bc22a4d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8d5ee59518946ed" /><Relationship Type="http://schemas.openxmlformats.org/officeDocument/2006/relationships/notesMaster" Target="/ppt/notesMasters/notesMaster1.xml" Id="R4c10989ba68041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e1e44f2e3b481a" /><Relationship Type="http://schemas.openxmlformats.org/officeDocument/2006/relationships/notesMaster" Target="/ppt/notesMasters/notesMaster1.xml" Id="R5355b258b32546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2ccc8231324bca" /><Relationship Type="http://schemas.openxmlformats.org/officeDocument/2006/relationships/notesMaster" Target="/ppt/notesMasters/notesMaster1.xml" Id="R02572919bb21415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a283c9f30b2401a" /><Relationship Type="http://schemas.openxmlformats.org/officeDocument/2006/relationships/notesMaster" Target="/ppt/notesMasters/notesMaster1.xml" Id="Rdfec29c0819e4a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93b0d79a5f45f0" /><Relationship Type="http://schemas.openxmlformats.org/officeDocument/2006/relationships/notesMaster" Target="/ppt/notesMasters/notesMaster1.xml" Id="R83c4b8b5711f4f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promise and the founders’ family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Founder context supplied by Kumar Sridharamurthy and Lavanya Shirur Sudhakar.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Tell the personal problem in thirty seconds: the family had ideas, but not the energy to search and adapt one in the moment.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Founder context supplied by Kumar Sridharamurthy and Lavanya Shirur Sudhakar.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working homepage: choose the moment, receive one matched activity, and start with complete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screenshot: /Users/lavanya/Desktop/screenshots/homepage.png</a:t>
            </a:r>
          </a:p>
          <a:p xmlns:a="http://schemas.openxmlformats.org/drawingml/2006/main">
            <a:r>
              <a:t>- Working prototype: https://trythis.fun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Oota Yaarige as proof that heritage preservation must include the words, motions, rhythm, and demonstration—not merely a title.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Try This Fun product screenshot captured from https://trythis.fun</a:t>
            </a:r>
          </a:p>
          <a:p xmlns:a="http://schemas.openxmlformats.org/drawingml/2006/main">
            <a:r>
              <a:t>- Heritage content supplied and demonstrated by the founders’ family.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actual MVP architecture. No runtime LLM or login is required: reviewed content becomes a typed catalog, deterministic constraints create a compatible deck, and the same source feeds web and native apps.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architecture: /Users/lavanya/github/Bonding/README.md</a:t>
            </a:r>
          </a:p>
          <a:p xmlns:a="http://schemas.openxmlformats.org/drawingml/2006/main">
            <a:r>
              <a:t>- Implementation: /Users/lavanya/github/Bonding/web/components/play-deck.tsx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Technical depth is concentrated in content engineering, schema normalization, shared adapters, fallback logic, randomization, media optimization, and source provenance.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Shared catalog implementation: /Users/lavanya/github/Bonding/web/lib/catalog.ts</a:t>
            </a:r>
          </a:p>
          <a:p xmlns:a="http://schemas.openxmlformats.org/drawingml/2006/main">
            <a:r>
              <a:t>- Source playbooks: /Users/lavanya/github/Bonding/src/data/source-ideas.ts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 the commercial model as a hypothesis to validate: a free starter product followed by a single family unlock and institutional collection partnerships.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strategy: /Users/lavanya/github/Bonding/docs/DEVFOLIO_SUBMISSION.md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six-month roadmap includes opt-in outcome learning, reviewed heritage expansion, and production launches on both the iOS App Store and Android Play Store with a one-time unlock.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roadmap: /Users/lavanya/github/Bonding/README.md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returning to the opening tension: a few spare minutes should become play, not another search. Invite judges to use the account-free live product.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Working prototype: https://trythis.fun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2bd04aaa584f1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e0e80770f4d49eb" /><Relationship Type="http://schemas.openxmlformats.org/officeDocument/2006/relationships/slideLayout" Target="/ppt/slideLayouts/slideLayout1.xml" Id="Ra3fe796532ca46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fe796532ca46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2be32a52cc48e0" /><Relationship Type="http://schemas.openxmlformats.org/officeDocument/2006/relationships/notesSlide" Target="/ppt/notesSlides/notesSlide1.xml" Id="R55a1e7aca4f5436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970431800e4c5e" /><Relationship Type="http://schemas.openxmlformats.org/officeDocument/2006/relationships/notesSlide" Target="/ppt/notesSlides/notesSlide2.xml" Id="R0252fbfe01e345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5a685fa43145fb" /><Relationship Type="http://schemas.openxmlformats.org/officeDocument/2006/relationships/image" Target="/ppt/media/image.png" Id="R7b2216fc86f04dad" /><Relationship Type="http://schemas.openxmlformats.org/officeDocument/2006/relationships/notesSlide" Target="/ppt/notesSlides/notesSlide3.xml" Id="Re04402e0568541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8c59ad5aa54467" /><Relationship Type="http://schemas.openxmlformats.org/officeDocument/2006/relationships/image" Target="/ppt/media/image.jpeg" Id="R88aa6f077c7641f4" /><Relationship Type="http://schemas.openxmlformats.org/officeDocument/2006/relationships/notesSlide" Target="/ppt/notesSlides/notesSlide4.xml" Id="Rffb3723a01f2482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a8099f0fa4491a" /><Relationship Type="http://schemas.openxmlformats.org/officeDocument/2006/relationships/image" Target="/ppt/media/image.png" Id="Red853db36d34452f" /><Relationship Type="http://schemas.openxmlformats.org/officeDocument/2006/relationships/notesSlide" Target="/ppt/notesSlides/notesSlide5.xml" Id="Rc4b0f52721d249b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8a7e01a8354fda" /><Relationship Type="http://schemas.openxmlformats.org/officeDocument/2006/relationships/image" Target="/ppt/media/image.jpeg" Id="R8f4ff5e76d554a84" /><Relationship Type="http://schemas.openxmlformats.org/officeDocument/2006/relationships/notesSlide" Target="/ppt/notesSlides/notesSlide6.xml" Id="R2a74478202a346b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ce1261ed154578" /><Relationship Type="http://schemas.openxmlformats.org/officeDocument/2006/relationships/image" Target="/ppt/media/image.jpeg" Id="R601778f048304601" /><Relationship Type="http://schemas.openxmlformats.org/officeDocument/2006/relationships/notesSlide" Target="/ppt/notesSlides/notesSlide7.xml" Id="R0a01f950c68147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d49692b0d4afe" /><Relationship Type="http://schemas.openxmlformats.org/officeDocument/2006/relationships/image" Target="/ppt/media/image.png" Id="R09860d301b0b4d6c" /><Relationship Type="http://schemas.openxmlformats.org/officeDocument/2006/relationships/notesSlide" Target="/ppt/notesSlides/notesSlide8.xml" Id="Rabc085c4690145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c0e37853644220" /><Relationship Type="http://schemas.openxmlformats.org/officeDocument/2006/relationships/notesSlide" Target="/ppt/notesSlides/notesSlide9.xml" Id="Rbdd7725ede6d441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315BD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045C3B-2F5D-4FCA-B8FF-83F636C2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"/>
            <a:ext cx="10934700" cy="5676900"/>
          </a:xfrm>
          <a:prstGeom xmlns:a="http://schemas.openxmlformats.org/drawingml/2006/main" prst="roundRect">
            <a:avLst>
              <a:gd name="adj" fmla="val 2685"/>
            </a:avLst>
          </a:prstGeom>
          <a:solidFill xmlns:a="http://schemas.openxmlformats.org/drawingml/2006/main">
            <a:srgbClr val="FFFDF6"/>
          </a:solidFill>
          <a:ln xmlns:a="http://schemas.openxmlformats.org/drawingml/2006/main" w="38100">
            <a:solidFill>
              <a:srgbClr val="18223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DD05F4-A8F7-4691-A103-91CF21050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19150"/>
            <a:ext cx="10477500" cy="5219700"/>
          </a:xfrm>
          <a:prstGeom xmlns:a="http://schemas.openxmlformats.org/drawingml/2006/main" prst="roundRect">
            <a:avLst>
              <a:gd name="adj" fmla="val 2920"/>
            </a:avLst>
          </a:prstGeom>
          <a:solidFill xmlns:a="http://schemas.openxmlformats.org/drawingml/2006/main">
            <a:srgbClr val="FFD55A"/>
          </a:solidFill>
          <a:ln xmlns:a="http://schemas.openxmlformats.org/drawingml/2006/main" w="38100">
            <a:solidFill>
              <a:srgbClr val="18223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7BB1EE-E492-44CB-B456-17DA7CA4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80000">
            <a:off x="7886700" y="1314450"/>
            <a:ext cx="1581150" cy="20002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DF6"/>
          </a:solidFill>
          <a:ln xmlns:a="http://schemas.openxmlformats.org/drawingml/2006/main" w="38100">
            <a:solidFill>
              <a:srgbClr val="18223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20A37A-3B94-41B9-92E5-122F4EC2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20000">
            <a:off x="9096375" y="2343150"/>
            <a:ext cx="18478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DF6"/>
          </a:solidFill>
          <a:ln xmlns:a="http://schemas.openxmlformats.org/drawingml/2006/main" w="38100">
            <a:solidFill>
              <a:srgbClr val="18223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B733F2-738D-4413-AEA7-5AA318A7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80000">
            <a:off x="8191500" y="1866900"/>
            <a:ext cx="10096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18223B"/>
                </a:solidFill>
              </a:defRPr>
            </a:pPr>
            <a:r>
              <a:rPr sz="4350" b="1">
                <a:solidFill>
                  <a:srgbClr val="18223B"/>
                </a:solidFill>
              </a:rPr>
              <a:t>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E9E84A-E4F6-4057-A226-0C02901B6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20000">
            <a:off x="9315450" y="2638425"/>
            <a:ext cx="1390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8223B"/>
                </a:solidFill>
              </a:defRPr>
            </a:pPr>
            <a:r>
              <a:rPr sz="2100" b="1">
                <a:solidFill>
                  <a:srgbClr val="18223B"/>
                </a:solidFill>
              </a:rPr>
              <a:t>TRY 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E59E9F-4B2D-4044-9CA4-2FEE33DC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2954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315BD9"/>
                </a:solidFill>
              </a:defRPr>
            </a:pPr>
            <a:r>
              <a:rPr sz="1125" b="1">
                <a:solidFill>
                  <a:srgbClr val="315BD9"/>
                </a:solidFill>
              </a:rPr>
              <a:t>FOR FAMILIES WITH A FEW MINUTES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CAA2F3-226A-4C32-B78C-1F053274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924050"/>
            <a:ext cx="5905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18223B"/>
                </a:solidFill>
              </a:defRPr>
            </a:pPr>
            <a:r>
              <a:rPr sz="5400" b="1">
                <a:solidFill>
                  <a:srgbClr val="18223B"/>
                </a:solidFill>
              </a:rPr>
              <a:t>Try This Fun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00384E-D692-45E7-BE3D-4B1DED04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09900"/>
            <a:ext cx="5905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8223B"/>
                </a:solidFill>
              </a:defRPr>
            </a:pPr>
            <a:r>
              <a:rPr sz="2850" b="1">
                <a:solidFill>
                  <a:srgbClr val="18223B"/>
                </a:solidFill>
              </a:rPr>
              <a:t>Less deciding.</a:t>
            </a:r>
          </a:p>
          <a:p xmlns:a="http://schemas.openxmlformats.org/drawingml/2006/main">
            <a:pPr>
              <a:buNone/>
              <a:defRPr sz="2850" b="1">
                <a:solidFill>
                  <a:srgbClr val="18223B"/>
                </a:solidFill>
              </a:defRPr>
            </a:pPr>
            <a:r>
              <a:rPr sz="2850" b="1">
                <a:solidFill>
                  <a:srgbClr val="18223B"/>
                </a:solidFill>
              </a:rPr>
              <a:t>More doing.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8519C6-9C6D-4E93-B736-E373A71E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05375"/>
            <a:ext cx="571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8223B"/>
                </a:solidFill>
              </a:defRPr>
            </a:pPr>
            <a:r>
              <a:rPr sz="1350" b="1">
                <a:solidFill>
                  <a:srgbClr val="18223B"/>
                </a:solidFill>
              </a:rPr>
              <a:t>Kumar Sridharamurthy  +  Lavanya Shirur Sudhakar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E81408-BD74-449E-BF3B-9CCF76F6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53050"/>
            <a:ext cx="609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8223B"/>
                </a:solidFill>
              </a:defRPr>
            </a:pPr>
            <a:r>
              <a:rPr sz="1200" b="0">
                <a:solidFill>
                  <a:srgbClr val="18223B"/>
                </a:solidFill>
              </a:rPr>
              <a:t>Husband-and-wife team · parents of a 6-year-old and a 2-year-old</a:t>
            </a:r>
          </a:p>
        </p:txBody>
      </p:sp>
    </p:spTree>
    <p:extLst>
      <p:ext uri="{BB962C8B-B14F-4D97-AF65-F5344CB8AC3E}">
        <p14:creationId xmlns:p14="http://schemas.microsoft.com/office/powerpoint/2010/main" val="10413122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D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20C32A-3914-4E7F-8440-746971C77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315BD9"/>
                </a:solidFill>
              </a:defRPr>
            </a:pPr>
            <a:r>
              <a:rPr sz="1125" b="1">
                <a:solidFill>
                  <a:srgbClr val="315BD9"/>
                </a:solidFill>
              </a:rPr>
              <a:t>THE PROBLEM IS PERSONAL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32077C-1F1A-420E-94E1-982C9FD1A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14400"/>
            <a:ext cx="6286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3750" b="1">
                <a:solidFill>
                  <a:srgbClr val="18223B"/>
                </a:solidFill>
              </a:defRPr>
            </a:pPr>
            <a:r>
              <a:rPr sz="3750" b="1">
                <a:solidFill>
                  <a:srgbClr val="18223B"/>
                </a:solidFill>
              </a:rPr>
              <a:t>We built this for</a:t>
            </a:r>
          </a:p>
          <a:p xmlns:a="http://schemas.openxmlformats.org/drawingml/2006/main">
            <a:pPr>
              <a:buNone/>
              <a:defRPr sz="3750" b="1">
                <a:solidFill>
                  <a:srgbClr val="18223B"/>
                </a:solidFill>
              </a:defRPr>
            </a:pPr>
            <a:r>
              <a:rPr sz="3750" b="1">
                <a:solidFill>
                  <a:srgbClr val="18223B"/>
                </a:solidFill>
              </a:rPr>
              <a:t>our own family.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3F4ABD-0549-4E68-A083-43CA006B8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90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68738D"/>
                </a:solidFill>
              </a:defRPr>
            </a:pPr>
            <a:r>
              <a:rPr sz="1725" b="0">
                <a:solidFill>
                  <a:srgbClr val="68738D"/>
                </a:solidFill>
              </a:rPr>
              <a:t>Two working parents. A curious 6-year-old. A fearless 2-year-old. And a handful of minutes that too often disappeared while we searched for something to do.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B1DB9A-FD10-4AA9-B395-D5E5F6A1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81050"/>
            <a:ext cx="4324350" cy="453390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F3F1E8"/>
          </a:solidFill>
          <a:ln xmlns:a="http://schemas.openxmlformats.org/drawingml/2006/main" w="38100">
            <a:solidFill>
              <a:srgbClr val="18223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E6D4EE-D3A5-40E1-9D15-13970EA8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104900"/>
            <a:ext cx="1143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315BD9"/>
                </a:solidFill>
              </a:defRPr>
            </a:pPr>
            <a:r>
              <a:rPr sz="5400" b="1">
                <a:solidFill>
                  <a:srgbClr val="315BD9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2D9027-CB11-4085-8046-5C5599B9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764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8223B"/>
                </a:solidFill>
              </a:defRPr>
            </a:pPr>
            <a:r>
              <a:rPr sz="1350" b="1">
                <a:solidFill>
                  <a:srgbClr val="18223B"/>
                </a:solidFill>
              </a:rPr>
              <a:t>parents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A35277-D08A-43DA-A0A8-BF97C701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428750"/>
            <a:ext cx="76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3750" b="1">
                <a:solidFill>
                  <a:srgbClr val="18223B"/>
                </a:solidFill>
              </a:defRPr>
            </a:pPr>
            <a:r>
              <a:rPr sz="3750" b="1">
                <a:solidFill>
                  <a:srgbClr val="18223B"/>
                </a:solidFill>
              </a:rPr>
              <a:t>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175810-8E1E-45FB-9A26-320C2660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104900"/>
            <a:ext cx="1143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FF6961"/>
                </a:solidFill>
              </a:defRPr>
            </a:pPr>
            <a:r>
              <a:rPr sz="5400" b="1">
                <a:solidFill>
                  <a:srgbClr val="FF6961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DCE1B1-2F1A-433F-B2C4-496C7DBF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764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8223B"/>
                </a:solidFill>
              </a:defRPr>
            </a:pPr>
            <a:r>
              <a:rPr sz="1350" b="1">
                <a:solidFill>
                  <a:srgbClr val="18223B"/>
                </a:solidFill>
              </a:rPr>
              <a:t>kids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4F31DC-0242-4F3D-906D-D4562BA6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781300"/>
            <a:ext cx="33909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D55A"/>
          </a:solidFill>
          <a:ln xmlns:a="http://schemas.openxmlformats.org/drawingml/2006/main" w="28575">
            <a:solidFill>
              <a:srgbClr val="1822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0AA2D4-0C4B-48D1-ADA0-D4286608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9146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8223B"/>
                </a:solidFill>
              </a:defRPr>
            </a:pPr>
            <a:r>
              <a:rPr sz="2025" b="1">
                <a:solidFill>
                  <a:srgbClr val="18223B"/>
                </a:solidFill>
              </a:rPr>
              <a:t>5 spare minutes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C67CEA-29D2-4BBE-B108-3841EC82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30517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18223B"/>
                </a:solidFill>
              </a:defRPr>
            </a:pPr>
            <a:r>
              <a:rPr sz="1275" b="0">
                <a:solidFill>
                  <a:srgbClr val="18223B"/>
                </a:solidFill>
              </a:rPr>
              <a:t>should feel like an opportunity —</a:t>
            </a:r>
          </a:p>
          <a:p xmlns:a="http://schemas.openxmlformats.org/drawingml/2006/main">
            <a:pPr>
              <a:buNone/>
              <a:defRPr sz="1275" b="0">
                <a:solidFill>
                  <a:srgbClr val="18223B"/>
                </a:solidFill>
              </a:defRPr>
            </a:pPr>
            <a:r>
              <a:rPr sz="1275" b="0">
                <a:solidFill>
                  <a:srgbClr val="18223B"/>
                </a:solidFill>
              </a:rPr>
              <a:t>not another decision.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7BA464-7832-4890-85E9-373605969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4229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8D6B1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56CFB2-A23F-4E09-A2F2-355556DE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29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55A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655654-A498-48A0-BE55-B1BCD8D8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4229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8BEA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78F79D-7E79-4703-BC2A-727B51D3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229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961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E3AC8A-192B-4386-A7AC-56B50938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590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8223B"/>
                </a:solidFill>
              </a:defRPr>
            </a:pPr>
            <a:r>
              <a:rPr sz="2100" b="1">
                <a:solidFill>
                  <a:srgbClr val="18223B"/>
                </a:solidFill>
              </a:rPr>
              <a:t>The real friction wasn’t a lack of ideas.</a:t>
            </a:r>
          </a:p>
          <a:p xmlns:a="http://schemas.openxmlformats.org/drawingml/2006/main">
            <a:pPr>
              <a:buNone/>
              <a:defRPr sz="2100" b="1">
                <a:solidFill>
                  <a:srgbClr val="18223B"/>
                </a:solidFill>
              </a:defRPr>
            </a:pPr>
            <a:r>
              <a:rPr sz="2100" b="1">
                <a:solidFill>
                  <a:srgbClr val="18223B"/>
                </a:solidFill>
              </a:rPr>
              <a:t>It was choosing the right one, right 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93270B-896E-4695-8A2E-3ED6EAAF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68738D"/>
                </a:solidFill>
              </a:defRPr>
            </a:pPr>
            <a:r>
              <a:rPr sz="900" b="1">
                <a:solidFill>
                  <a:srgbClr val="68738D"/>
                </a:solidFill>
              </a:rPr>
              <a:t>TRYTHIS.FUN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682146-99FC-4DE8-9841-8DB4F1FB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68738D"/>
                </a:solidFill>
              </a:defRPr>
            </a:pPr>
            <a:r>
              <a:rPr sz="900" b="1">
                <a:solidFill>
                  <a:srgbClr val="68738D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45258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A218B2-0E34-4907-BB8B-1DA81483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315BD9"/>
                </a:solidFill>
              </a:defRPr>
            </a:pPr>
            <a:r>
              <a:rPr sz="1125" b="1">
                <a:solidFill>
                  <a:srgbClr val="315BD9"/>
                </a:solidFill>
              </a:rPr>
              <a:t>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BCAA88-0D31-4F83-BDD4-AA527436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38200"/>
            <a:ext cx="6286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223B"/>
                </a:solidFill>
              </a:defRPr>
            </a:pPr>
            <a:r>
              <a:rPr sz="3450" b="1">
                <a:solidFill>
                  <a:srgbClr val="18223B"/>
                </a:solidFill>
              </a:rPr>
              <a:t>One good idea beats</a:t>
            </a:r>
          </a:p>
          <a:p xmlns:a="http://schemas.openxmlformats.org/drawingml/2006/main">
            <a:pPr>
              <a:buNone/>
              <a:defRPr sz="3450" b="1">
                <a:solidFill>
                  <a:srgbClr val="18223B"/>
                </a:solidFill>
              </a:defRPr>
            </a:pPr>
            <a:r>
              <a:rPr sz="3450" b="1">
                <a:solidFill>
                  <a:srgbClr val="18223B"/>
                </a:solidFill>
              </a:rPr>
              <a:t>another endless list.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55491-0C99-4C3A-9600-9DFB75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55054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68738D"/>
                </a:solidFill>
              </a:defRPr>
            </a:pPr>
            <a:r>
              <a:rPr sz="1575" b="0">
                <a:solidFill>
                  <a:srgbClr val="68738D"/>
                </a:solidFill>
              </a:rPr>
              <a:t>Try This asks only what matters in this moment — the mood, setup, and time available — then recommends one activity.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E2CA37-4AB3-4343-BC66-F932B71F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55A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C68DBD-1219-4CD7-AEB8-888FDDAB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19475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8223B"/>
                </a:solidFill>
              </a:defRPr>
            </a:pPr>
            <a:r>
              <a:rPr sz="1500" b="1">
                <a:solidFill>
                  <a:srgbClr val="18223B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F9D9DA-4818-406D-B38C-BBA9CDA1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90900"/>
            <a:ext cx="424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8223B"/>
                </a:solidFill>
              </a:defRPr>
            </a:pPr>
            <a:r>
              <a:rPr sz="1725" b="1">
                <a:solidFill>
                  <a:srgbClr val="18223B"/>
                </a:solidFill>
              </a:rPr>
              <a:t>Pick the moment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EAA16-D832-44D1-934F-2D3DF75B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719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8D6B1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C48501-7D69-4358-964C-471A22B0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00525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8223B"/>
                </a:solidFill>
              </a:defRPr>
            </a:pPr>
            <a:r>
              <a:rPr sz="1500" b="1">
                <a:solidFill>
                  <a:srgbClr val="18223B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C4276C-27B8-4876-AE12-DB5BD85C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171950"/>
            <a:ext cx="424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8223B"/>
                </a:solidFill>
              </a:defRPr>
            </a:pPr>
            <a:r>
              <a:rPr sz="1725" b="1">
                <a:solidFill>
                  <a:srgbClr val="18223B"/>
                </a:solidFill>
              </a:rPr>
              <a:t>Get one matched idea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484EEE-E418-43E5-922B-31B838A7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961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7D0D7A-DC75-40DA-95AF-F67C0C7E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81575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8223B"/>
                </a:solidFill>
              </a:defRPr>
            </a:pPr>
            <a:r>
              <a:rPr sz="1500" b="1">
                <a:solidFill>
                  <a:srgbClr val="18223B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8C6082-3920-417B-8BAD-DAB6DB58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953000"/>
            <a:ext cx="424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8223B"/>
                </a:solidFill>
              </a:defRPr>
            </a:pPr>
            <a:r>
              <a:rPr sz="1725" b="1">
                <a:solidFill>
                  <a:srgbClr val="18223B"/>
                </a:solidFill>
              </a:rPr>
              <a:t>Start playing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4F2CC4-39D5-4970-86EE-2A15514C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42900"/>
            <a:ext cx="4000500" cy="605790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315BD9"/>
          </a:solidFill>
          <a:ln xmlns:a="http://schemas.openxmlformats.org/drawingml/2006/main" w="38100">
            <a:solidFill>
              <a:srgbClr val="18223B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2216fc86f04dad"/>
          <a:stretch xmlns:a="http://schemas.openxmlformats.org/drawingml/2006/main"/>
        </p:blipFill>
        <p:spPr>
          <a:xfrm xmlns:a="http://schemas.openxmlformats.org/drawingml/2006/main">
            <a:off x="7723867" y="533400"/>
            <a:ext cx="2649767" cy="56769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B6006D-CA3D-42B1-8548-951AB842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68738D"/>
                </a:solidFill>
              </a:defRPr>
            </a:pPr>
            <a:r>
              <a:rPr sz="900" b="1">
                <a:solidFill>
                  <a:srgbClr val="68738D"/>
                </a:solidFill>
              </a:rPr>
              <a:t>TRYTHIS.FUN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BD911D-0681-44E1-BAB6-BFF12F856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68738D"/>
                </a:solidFill>
              </a:defRPr>
            </a:pPr>
            <a:r>
              <a:rPr sz="900" b="1">
                <a:solidFill>
                  <a:srgbClr val="68738D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899197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822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0225A7-3373-4FD5-ABA0-E592DBD51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3962400" cy="607695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DF6"/>
          </a:solidFill>
          <a:ln xmlns:a="http://schemas.openxmlformats.org/drawingml/2006/main" w="0">
            <a:solidFill>
              <a:srgbClr val="FFFDF6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aa6f077c7641f4"/>
          <a:srcRect xmlns:a="http://schemas.openxmlformats.org/drawingml/2006/main" l="0" t="2525" r="0" b="25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2211" y="552450"/>
            <a:ext cx="2804777" cy="57721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7E3670-D82D-4DFC-9ED3-17F9B1DC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6858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D55A"/>
                </a:solidFill>
              </a:defRPr>
            </a:pPr>
            <a:r>
              <a:rPr sz="1125" b="1">
                <a:solidFill>
                  <a:srgbClr val="FFD55A"/>
                </a:solidFill>
              </a:rPr>
              <a:t>HERITAGE, MADE PLAYABLE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89A1E6-7230-457D-84EB-2E27241C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066800"/>
            <a:ext cx="638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FFFDF6"/>
                </a:solidFill>
              </a:defRPr>
            </a:pPr>
            <a:r>
              <a:rPr sz="3300" b="1">
                <a:solidFill>
                  <a:srgbClr val="FFFDF6"/>
                </a:solidFill>
              </a:rPr>
              <a:t>Watch once.</a:t>
            </a:r>
          </a:p>
          <a:p xmlns:a="http://schemas.openxmlformats.org/drawingml/2006/main">
            <a:pPr>
              <a:buNone/>
              <a:defRPr sz="3300" b="1">
                <a:solidFill>
                  <a:srgbClr val="FFFDF6"/>
                </a:solidFill>
              </a:defRPr>
            </a:pPr>
            <a:r>
              <a:rPr sz="3300" b="1">
                <a:solidFill>
                  <a:srgbClr val="FFFDF6"/>
                </a:solidFill>
              </a:rPr>
              <a:t>Play for years.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734BFB-7848-4565-9EE4-5F9CE528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43150"/>
            <a:ext cx="590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C9D2EA"/>
                </a:solidFill>
              </a:defRPr>
            </a:pPr>
            <a:r>
              <a:rPr sz="1575" b="0">
                <a:solidFill>
                  <a:srgbClr val="C9D2EA"/>
                </a:solidFill>
              </a:rPr>
              <a:t>Oral family games survive when a new parent is never expected to already know the missing details: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C14E4D-4D23-4D7F-9C1A-FE1DB558F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05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55A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A289F3-16E1-4D1C-92A2-C02C1230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242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8223B"/>
                </a:solidFill>
              </a:defRPr>
            </a:pPr>
            <a:r>
              <a:rPr sz="1275" b="1">
                <a:solidFill>
                  <a:srgbClr val="18223B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ED3BE8-CA97-4FA1-9E9D-3832306E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2575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DF6"/>
                </a:solidFill>
              </a:defRPr>
            </a:pPr>
            <a:r>
              <a:rPr sz="1650" b="1">
                <a:solidFill>
                  <a:srgbClr val="FFFDF6"/>
                </a:solidFill>
              </a:rPr>
              <a:t>The original Kannada words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C433F9-F986-4F24-9A1F-95BE26656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58140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9D2EA"/>
                </a:solidFill>
              </a:defRPr>
            </a:pPr>
            <a:r>
              <a:rPr sz="1200" b="0">
                <a:solidFill>
                  <a:srgbClr val="C9D2EA"/>
                </a:solidFill>
              </a:rPr>
              <a:t>Lyrics preserved in Kannada script.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9F958E-8B37-4BB9-83C1-6EEFC56C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814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8D6B1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EE2B12-16F9-4FD1-ABE9-B09BF87D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005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8223B"/>
                </a:solidFill>
              </a:defRPr>
            </a:pPr>
            <a:r>
              <a:rPr sz="1275" b="1">
                <a:solidFill>
                  <a:srgbClr val="18223B"/>
                </a:solidFill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7D8118-8BAD-4F24-8D9B-34ABD1C8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1338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DF6"/>
                </a:solidFill>
              </a:defRPr>
            </a:pPr>
            <a:r>
              <a:rPr sz="1650" b="1">
                <a:solidFill>
                  <a:srgbClr val="FFFDF6"/>
                </a:solidFill>
              </a:rPr>
              <a:t>A practical reading guide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73711F-075D-4FF4-841B-F6FDC487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45770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9D2EA"/>
                </a:solidFill>
              </a:defRPr>
            </a:pPr>
            <a:r>
              <a:rPr sz="1200" b="0">
                <a:solidFill>
                  <a:srgbClr val="C9D2EA"/>
                </a:solidFill>
              </a:rPr>
              <a:t>Transliteration plus every movement.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D08C4E-3DE5-4A03-95A3-E75CAA91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057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8BEA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D27936-1A0A-41EA-A755-BA43AF16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0768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8223B"/>
                </a:solidFill>
              </a:defRPr>
            </a:pPr>
            <a:r>
              <a:rPr sz="1275" b="1">
                <a:solidFill>
                  <a:srgbClr val="18223B"/>
                </a:solidFill>
              </a:rPr>
              <a:t>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CA57C2-83E5-44A3-9B39-B0C08C49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101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DF6"/>
                </a:solidFill>
              </a:defRPr>
            </a:pPr>
            <a:r>
              <a:rPr sz="1650" b="1">
                <a:solidFill>
                  <a:srgbClr val="FFFDF6"/>
                </a:solidFill>
              </a:rPr>
              <a:t>A real family demonstration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EEDBAD-8943-417A-9C9B-AA100B14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33400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9D2EA"/>
                </a:solidFill>
              </a:defRPr>
            </a:pPr>
            <a:r>
              <a:rPr sz="1200" b="0">
                <a:solidFill>
                  <a:srgbClr val="C9D2EA"/>
                </a:solidFill>
              </a:rPr>
              <a:t>Video shows the rhythm and punchline.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C3DE06-48B4-4471-BC0C-C776C748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63817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FFDF6"/>
                </a:solidFill>
              </a:defRPr>
            </a:pPr>
            <a:r>
              <a:rPr sz="900" b="1">
                <a:solidFill>
                  <a:srgbClr val="FFFDF6"/>
                </a:solidFill>
              </a:rPr>
              <a:t>TRYTHIS.FUN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2555FF-A304-41CC-A07F-AF66BB16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FFDF6"/>
                </a:solidFill>
              </a:defRPr>
            </a:pPr>
            <a:r>
              <a:rPr sz="900" b="1">
                <a:solidFill>
                  <a:srgbClr val="FFFDF6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642323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A218B2-0E34-4907-BB8B-1DA81483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315BD9"/>
                </a:solidFill>
              </a:defRPr>
            </a:pPr>
            <a:r>
              <a:rPr sz="1125" b="1">
                <a:solidFill>
                  <a:srgbClr val="315BD9"/>
                </a:solidFill>
              </a:rPr>
              <a:t>SYSTEM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BCAA88-0D31-4F83-BDD4-AA527436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38200"/>
            <a:ext cx="6286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223B"/>
                </a:solidFill>
              </a:defRPr>
            </a:pPr>
            <a:r>
              <a:rPr sz="3450" b="1">
                <a:solidFill>
                  <a:srgbClr val="18223B"/>
                </a:solidFill>
              </a:rPr>
              <a:t>Simple at runtime.</a:t>
            </a:r>
          </a:p>
          <a:p xmlns:a="http://schemas.openxmlformats.org/drawingml/2006/main">
            <a:pPr>
              <a:buNone/>
              <a:defRPr sz="3450" b="1">
                <a:solidFill>
                  <a:srgbClr val="18223B"/>
                </a:solidFill>
              </a:defRPr>
            </a:pPr>
            <a:r>
              <a:rPr sz="3450" b="1">
                <a:solidFill>
                  <a:srgbClr val="18223B"/>
                </a:solidFill>
              </a:rPr>
              <a:t>Deep before it ships.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55491-0C99-4C3A-9600-9DFB75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55054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68738D"/>
                </a:solidFill>
              </a:defRPr>
            </a:pPr>
            <a:r>
              <a:rPr sz="1575" b="0">
                <a:solidFill>
                  <a:srgbClr val="68738D"/>
                </a:solidFill>
              </a:rPr>
              <a:t>The MVP keeps family data on-device and turns a reviewed content pipeline into one fast, explainable recommendation.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E2CA37-4AB3-4343-BC66-F932B71F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55A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C68DBD-1219-4CD7-AEB8-888FDDAB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19475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8223B"/>
                </a:solidFill>
              </a:defRPr>
            </a:pPr>
            <a:r>
              <a:rPr sz="1500" b="1">
                <a:solidFill>
                  <a:srgbClr val="18223B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F9D9DA-4818-406D-B38C-BBA9CDA1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90900"/>
            <a:ext cx="424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8223B"/>
                </a:solidFill>
              </a:defRPr>
            </a:pPr>
            <a:r>
              <a:rPr sz="1725" b="1">
                <a:solidFill>
                  <a:srgbClr val="18223B"/>
                </a:solidFill>
              </a:rPr>
              <a:t>Research → typed catalog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EAA16-D832-44D1-934F-2D3DF75B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719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8D6B1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C48501-7D69-4358-964C-471A22B0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00525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8223B"/>
                </a:solidFill>
              </a:defRPr>
            </a:pPr>
            <a:r>
              <a:rPr sz="1500" b="1">
                <a:solidFill>
                  <a:srgbClr val="18223B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C4276C-27B8-4876-AE12-DB5BD85C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171950"/>
            <a:ext cx="424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8223B"/>
                </a:solidFill>
              </a:defRPr>
            </a:pPr>
            <a:r>
              <a:rPr sz="1725" b="1">
                <a:solidFill>
                  <a:srgbClr val="18223B"/>
                </a:solidFill>
              </a:rPr>
              <a:t>Constraints → shuffled deck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484EEE-E418-43E5-922B-31B838A7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961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7D0D7A-DC75-40DA-95AF-F67C0C7E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81575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8223B"/>
                </a:solidFill>
              </a:defRPr>
            </a:pPr>
            <a:r>
              <a:rPr sz="1500" b="1">
                <a:solidFill>
                  <a:srgbClr val="18223B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8C6082-3920-417B-8BAD-DAB6DB58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953000"/>
            <a:ext cx="424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8223B"/>
                </a:solidFill>
              </a:defRPr>
            </a:pPr>
            <a:r>
              <a:rPr sz="1725" b="1">
                <a:solidFill>
                  <a:srgbClr val="18223B"/>
                </a:solidFill>
              </a:rPr>
              <a:t>Web + iOS + Android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4F2CC4-39D5-4970-86EE-2A15514C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42900"/>
            <a:ext cx="4000500" cy="605790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315BD9"/>
          </a:solidFill>
          <a:ln xmlns:a="http://schemas.openxmlformats.org/drawingml/2006/main" w="38100">
            <a:solidFill>
              <a:srgbClr val="18223B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853db36d34452f"/>
          <a:stretch xmlns:a="http://schemas.openxmlformats.org/drawingml/2006/main"/>
        </p:blipFill>
        <p:spPr>
          <a:xfrm xmlns:a="http://schemas.openxmlformats.org/drawingml/2006/main">
            <a:off x="7723867" y="533400"/>
            <a:ext cx="2649767" cy="56769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B6006D-CA3D-42B1-8548-951AB842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68738D"/>
                </a:solidFill>
              </a:defRPr>
            </a:pPr>
            <a:r>
              <a:rPr sz="900" b="1">
                <a:solidFill>
                  <a:srgbClr val="68738D"/>
                </a:solidFill>
              </a:rPr>
              <a:t>TRYTHIS.FUN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BD911D-0681-44E1-BAB6-BFF12F856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68738D"/>
                </a:solidFill>
              </a:defRPr>
            </a:pPr>
            <a:r>
              <a:rPr sz="900" b="1">
                <a:solidFill>
                  <a:srgbClr val="68738D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899197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822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0225A7-3373-4FD5-ABA0-E592DBD51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3962400" cy="607695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DF6"/>
          </a:solidFill>
          <a:ln xmlns:a="http://schemas.openxmlformats.org/drawingml/2006/main" w="0">
            <a:solidFill>
              <a:srgbClr val="FFFDF6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4ff5e76d554a84"/>
          <a:stretch xmlns:a="http://schemas.openxmlformats.org/drawingml/2006/main"/>
        </p:blipFill>
        <p:spPr>
          <a:xfrm xmlns:a="http://schemas.openxmlformats.org/drawingml/2006/main">
            <a:off x="1112211" y="552450"/>
            <a:ext cx="2804777" cy="57721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7E3670-D82D-4DFC-9ED3-17F9B1DC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6858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D55A"/>
                </a:solidFill>
              </a:defRPr>
            </a:pPr>
            <a:r>
              <a:rPr sz="1125" b="1">
                <a:solidFill>
                  <a:srgbClr val="FFD55A"/>
                </a:solidFill>
              </a:rPr>
              <a:t>THE TECHNICAL MOAT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89A1E6-7230-457D-84EB-2E27241C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066800"/>
            <a:ext cx="638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FFFDF6"/>
                </a:solidFill>
              </a:defRPr>
            </a:pPr>
            <a:r>
              <a:rPr sz="3300" b="1">
                <a:solidFill>
                  <a:srgbClr val="FFFDF6"/>
                </a:solidFill>
              </a:rPr>
              <a:t>The catalog is</a:t>
            </a:r>
          </a:p>
          <a:p xmlns:a="http://schemas.openxmlformats.org/drawingml/2006/main">
            <a:pPr>
              <a:buNone/>
              <a:defRPr sz="3300" b="1">
                <a:solidFill>
                  <a:srgbClr val="FFFDF6"/>
                </a:solidFill>
              </a:defRPr>
            </a:pPr>
            <a:r>
              <a:rPr sz="3300" b="1">
                <a:solidFill>
                  <a:srgbClr val="FFFDF6"/>
                </a:solidFill>
              </a:rPr>
              <a:t>the compounding asset.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734BFB-7848-4565-9EE4-5F9CE528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43150"/>
            <a:ext cx="590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C9D2EA"/>
                </a:solidFill>
              </a:defRPr>
            </a:pPr>
            <a:r>
              <a:rPr sz="1575" b="0">
                <a:solidFill>
                  <a:srgbClr val="C9D2EA"/>
                </a:solidFill>
              </a:rPr>
              <a:t>The hard work happens before a card reaches a family: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C14E4D-4D23-4D7F-9C1A-FE1DB558F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05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55A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A289F3-16E1-4D1C-92A2-C02C1230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242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8223B"/>
                </a:solidFill>
              </a:defRPr>
            </a:pPr>
            <a:r>
              <a:rPr sz="1275" b="1">
                <a:solidFill>
                  <a:srgbClr val="18223B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ED3BE8-CA97-4FA1-9E9D-3832306E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2575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DF6"/>
                </a:solidFill>
              </a:defRPr>
            </a:pPr>
            <a:r>
              <a:rPr sz="1650" b="1">
                <a:solidFill>
                  <a:srgbClr val="FFFDF6"/>
                </a:solidFill>
              </a:rPr>
              <a:t>A shared typed schema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C433F9-F986-4F24-9A1F-95BE26656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58140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9D2EA"/>
                </a:solidFill>
              </a:defRPr>
            </a:pPr>
            <a:r>
              <a:rPr sz="1200" b="0">
                <a:solidFill>
                  <a:srgbClr val="C9D2EA"/>
                </a:solidFill>
              </a:rPr>
              <a:t>One reviewed catalog across every platform.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9F958E-8B37-4BB9-83C1-6EEFC56C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814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8D6B1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EE2B12-16F9-4FD1-ABE9-B09BF87D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005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8223B"/>
                </a:solidFill>
              </a:defRPr>
            </a:pPr>
            <a:r>
              <a:rPr sz="1275" b="1">
                <a:solidFill>
                  <a:srgbClr val="18223B"/>
                </a:solidFill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7D8118-8BAD-4F24-8D9B-34ABD1C8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1338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DF6"/>
                </a:solidFill>
              </a:defRPr>
            </a:pPr>
            <a:r>
              <a:rPr sz="1650" b="1">
                <a:solidFill>
                  <a:srgbClr val="FFFDF6"/>
                </a:solidFill>
              </a:rPr>
              <a:t>Explainable matching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73711F-075D-4FF4-841B-F6FDC487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45770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9D2EA"/>
                </a:solidFill>
              </a:defRPr>
            </a:pPr>
            <a:r>
              <a:rPr sz="1200" b="0">
                <a:solidFill>
                  <a:srgbClr val="C9D2EA"/>
                </a:solidFill>
              </a:rPr>
              <a:t>Hard constraints, safe fallback, fresh shuffle.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D08C4E-3DE5-4A03-95A3-E75CAA91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057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8BEA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D27936-1A0A-41EA-A755-BA43AF16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0768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8223B"/>
                </a:solidFill>
              </a:defRPr>
            </a:pPr>
            <a:r>
              <a:rPr sz="1275" b="1">
                <a:solidFill>
                  <a:srgbClr val="18223B"/>
                </a:solidFill>
              </a:rPr>
              <a:t>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CA57C2-83E5-44A3-9B39-B0C08C49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101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DF6"/>
                </a:solidFill>
              </a:defRPr>
            </a:pPr>
            <a:r>
              <a:rPr sz="1650" b="1">
                <a:solidFill>
                  <a:srgbClr val="FFFDF6"/>
                </a:solidFill>
              </a:rPr>
              <a:t>Complete editorial playbooks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EEDBAD-8943-417A-9C9B-AA100B14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33400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9D2EA"/>
                </a:solidFill>
              </a:defRPr>
            </a:pPr>
            <a:r>
              <a:rPr sz="1200" b="0">
                <a:solidFill>
                  <a:srgbClr val="C9D2EA"/>
                </a:solidFill>
              </a:rPr>
              <a:t>Starts, steps, remixes, media, and provenance.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C3DE06-48B4-4471-BC0C-C776C748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63817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FFDF6"/>
                </a:solidFill>
              </a:defRPr>
            </a:pPr>
            <a:r>
              <a:rPr sz="900" b="1">
                <a:solidFill>
                  <a:srgbClr val="FFFDF6"/>
                </a:solidFill>
              </a:rPr>
              <a:t>TRYTHIS.FUN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2555FF-A304-41CC-A07F-AF66BB16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FFDF6"/>
                </a:solidFill>
              </a:defRPr>
            </a:pPr>
            <a:r>
              <a:rPr sz="900" b="1">
                <a:solidFill>
                  <a:srgbClr val="FFFDF6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642323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822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0225A7-3373-4FD5-ABA0-E592DBD51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3962400" cy="607695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DF6"/>
          </a:solidFill>
          <a:ln xmlns:a="http://schemas.openxmlformats.org/drawingml/2006/main" w="0">
            <a:solidFill>
              <a:srgbClr val="FFFDF6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1778f048304601"/>
          <a:stretch xmlns:a="http://schemas.openxmlformats.org/drawingml/2006/main"/>
        </p:blipFill>
        <p:spPr>
          <a:xfrm xmlns:a="http://schemas.openxmlformats.org/drawingml/2006/main">
            <a:off x="1112211" y="552450"/>
            <a:ext cx="2804777" cy="57721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7E3670-D82D-4DFC-9ED3-17F9B1DC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6858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D55A"/>
                </a:solidFill>
              </a:defRPr>
            </a:pPr>
            <a:r>
              <a:rPr sz="1125" b="1">
                <a:solidFill>
                  <a:srgbClr val="FFD55A"/>
                </a:solidFill>
              </a:rPr>
              <a:t>BUSINESS VIABILITY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89A1E6-7230-457D-84EB-2E27241C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066800"/>
            <a:ext cx="638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FFFDF6"/>
                </a:solidFill>
              </a:defRPr>
            </a:pPr>
            <a:r>
              <a:rPr sz="3300" b="1">
                <a:solidFill>
                  <a:srgbClr val="FFFDF6"/>
                </a:solidFill>
              </a:rPr>
              <a:t>Low infrastructure.</a:t>
            </a:r>
          </a:p>
          <a:p xmlns:a="http://schemas.openxmlformats.org/drawingml/2006/main">
            <a:pPr>
              <a:buNone/>
              <a:defRPr sz="3300" b="1">
                <a:solidFill>
                  <a:srgbClr val="FFFDF6"/>
                </a:solidFill>
              </a:defRPr>
            </a:pPr>
            <a:r>
              <a:rPr sz="3300" b="1">
                <a:solidFill>
                  <a:srgbClr val="FFFDF6"/>
                </a:solidFill>
              </a:rPr>
              <a:t>Growing content value.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734BFB-7848-4565-9EE4-5F9CE528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43150"/>
            <a:ext cx="590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C9D2EA"/>
                </a:solidFill>
              </a:defRPr>
            </a:pPr>
            <a:r>
              <a:rPr sz="1575" b="0">
                <a:solidFill>
                  <a:srgbClr val="C9D2EA"/>
                </a:solidFill>
              </a:rPr>
              <a:t>We can validate willingness to pay before adding payment complexity: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C14E4D-4D23-4D7F-9C1A-FE1DB558F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05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55A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A289F3-16E1-4D1C-92A2-C02C1230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242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8223B"/>
                </a:solidFill>
              </a:defRPr>
            </a:pPr>
            <a:r>
              <a:rPr sz="1275" b="1">
                <a:solidFill>
                  <a:srgbClr val="18223B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ED3BE8-CA97-4FA1-9E9D-3832306E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2575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DF6"/>
                </a:solidFill>
              </a:defRPr>
            </a:pPr>
            <a:r>
              <a:rPr sz="1650" b="1">
                <a:solidFill>
                  <a:srgbClr val="FFFDF6"/>
                </a:solidFill>
              </a:rPr>
              <a:t>Free starter collection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C433F9-F986-4F24-9A1F-95BE26656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58140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9D2EA"/>
                </a:solidFill>
              </a:defRPr>
            </a:pPr>
            <a:r>
              <a:rPr sz="1200" b="0">
                <a:solidFill>
                  <a:srgbClr val="C9D2EA"/>
                </a:solidFill>
              </a:rPr>
              <a:t>Prove repeat use through the account-free product.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9F958E-8B37-4BB9-83C1-6EEFC56C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814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8D6B1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EE2B12-16F9-4FD1-ABE9-B09BF87D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005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8223B"/>
                </a:solidFill>
              </a:defRPr>
            </a:pPr>
            <a:r>
              <a:rPr sz="1275" b="1">
                <a:solidFill>
                  <a:srgbClr val="18223B"/>
                </a:solidFill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7D8118-8BAD-4F24-8D9B-34ABD1C8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1338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DF6"/>
                </a:solidFill>
              </a:defRPr>
            </a:pPr>
            <a:r>
              <a:rPr sz="1650" b="1">
                <a:solidFill>
                  <a:srgbClr val="FFFDF6"/>
                </a:solidFill>
              </a:rPr>
              <a:t>One-time family unlock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73711F-075D-4FF4-841B-F6FDC487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45770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9D2EA"/>
                </a:solidFill>
              </a:defRPr>
            </a:pPr>
            <a:r>
              <a:rPr sz="1200" b="0">
                <a:solidFill>
                  <a:srgbClr val="C9D2EA"/>
                </a:solidFill>
              </a:rPr>
              <a:t>Complete library and offline media—no subscription.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D08C4E-3DE5-4A03-95A3-E75CAA91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057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8BEA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D27936-1A0A-41EA-A755-BA43AF16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0768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8223B"/>
                </a:solidFill>
              </a:defRPr>
            </a:pPr>
            <a:r>
              <a:rPr sz="1275" b="1">
                <a:solidFill>
                  <a:srgbClr val="18223B"/>
                </a:solidFill>
              </a:rPr>
              <a:t>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CA57C2-83E5-44A3-9B39-B0C08C49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101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DF6"/>
                </a:solidFill>
              </a:defRPr>
            </a:pPr>
            <a:r>
              <a:rPr sz="1650" b="1">
                <a:solidFill>
                  <a:srgbClr val="FFFDF6"/>
                </a:solidFill>
              </a:rPr>
              <a:t>Collection partnerships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EEDBAD-8943-417A-9C9B-AA100B14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33400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9D2EA"/>
                </a:solidFill>
              </a:defRPr>
            </a:pPr>
            <a:r>
              <a:rPr sz="1200" b="0">
                <a:solidFill>
                  <a:srgbClr val="C9D2EA"/>
                </a:solidFill>
              </a:rPr>
              <a:t>Libraries, schools, and cultural organizations.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C3DE06-48B4-4471-BC0C-C776C748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63817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FFDF6"/>
                </a:solidFill>
              </a:defRPr>
            </a:pPr>
            <a:r>
              <a:rPr sz="900" b="1">
                <a:solidFill>
                  <a:srgbClr val="FFFDF6"/>
                </a:solidFill>
              </a:rPr>
              <a:t>TRYTHIS.FUN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2555FF-A304-41CC-A07F-AF66BB16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FFDF6"/>
                </a:solidFill>
              </a:defRPr>
            </a:pPr>
            <a:r>
              <a:rPr sz="900" b="1">
                <a:solidFill>
                  <a:srgbClr val="FFFDF6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642323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D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A218B2-0E34-4907-BB8B-1DA81483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315BD9"/>
                </a:solidFill>
              </a:defRPr>
            </a:pPr>
            <a:r>
              <a:rPr sz="1125" b="1">
                <a:solidFill>
                  <a:srgbClr val="315BD9"/>
                </a:solidFill>
              </a:rPr>
              <a:t>SIX-MONTH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BCAA88-0D31-4F83-BDD4-AA527436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38200"/>
            <a:ext cx="6286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223B"/>
                </a:solidFill>
              </a:defRPr>
            </a:pPr>
            <a:r>
              <a:rPr sz="3450" b="1">
                <a:solidFill>
                  <a:srgbClr val="18223B"/>
                </a:solidFill>
              </a:rPr>
              <a:t>Prove repetition.</a:t>
            </a:r>
          </a:p>
          <a:p xmlns:a="http://schemas.openxmlformats.org/drawingml/2006/main">
            <a:pPr>
              <a:buNone/>
              <a:defRPr sz="3450" b="1">
                <a:solidFill>
                  <a:srgbClr val="18223B"/>
                </a:solidFill>
              </a:defRPr>
            </a:pPr>
            <a:r>
              <a:rPr sz="3450" b="1">
                <a:solidFill>
                  <a:srgbClr val="18223B"/>
                </a:solidFill>
              </a:rPr>
              <a:t>Then expand the library.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55491-0C99-4C3A-9600-9DFB75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55054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68738D"/>
                </a:solidFill>
              </a:defRPr>
            </a:pPr>
            <a:r>
              <a:rPr sz="1575" b="0">
                <a:solidFill>
                  <a:srgbClr val="68738D"/>
                </a:solidFill>
              </a:rPr>
              <a:t>The next phase turns the working prototype into a measurable, cross-platform family product.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E2CA37-4AB3-4343-BC66-F932B71F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55A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C68DBD-1219-4CD7-AEB8-888FDDAB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19475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8223B"/>
                </a:solidFill>
              </a:defRPr>
            </a:pPr>
            <a:r>
              <a:rPr sz="1500" b="1">
                <a:solidFill>
                  <a:srgbClr val="18223B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F9D9DA-4818-406D-B38C-BBA9CDA1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90900"/>
            <a:ext cx="424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8223B"/>
                </a:solidFill>
              </a:defRPr>
            </a:pPr>
            <a:r>
              <a:rPr sz="1725" b="1">
                <a:solidFill>
                  <a:srgbClr val="18223B"/>
                </a:solidFill>
              </a:rPr>
              <a:t>Measure tried, saved &amp; repeated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EAA16-D832-44D1-934F-2D3DF75B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719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8D6B1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C48501-7D69-4358-964C-471A22B0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00525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8223B"/>
                </a:solidFill>
              </a:defRPr>
            </a:pPr>
            <a:r>
              <a:rPr sz="1500" b="1">
                <a:solidFill>
                  <a:srgbClr val="18223B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C4276C-27B8-4876-AE12-DB5BD85C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171950"/>
            <a:ext cx="424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8223B"/>
                </a:solidFill>
              </a:defRPr>
            </a:pPr>
            <a:r>
              <a:rPr sz="1725" b="1">
                <a:solidFill>
                  <a:srgbClr val="18223B"/>
                </a:solidFill>
              </a:rPr>
              <a:t>Add reviewed heritage packs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484EEE-E418-43E5-922B-31B838A7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961"/>
          </a:solidFill>
          <a:ln xmlns:a="http://schemas.openxmlformats.org/drawingml/2006/main" w="19050">
            <a:solidFill>
              <a:srgbClr val="1822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7D0D7A-DC75-40DA-95AF-F67C0C7E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81575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8223B"/>
                </a:solidFill>
              </a:defRPr>
            </a:pPr>
            <a:r>
              <a:rPr sz="1500" b="1">
                <a:solidFill>
                  <a:srgbClr val="18223B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8C6082-3920-417B-8BAD-DAB6DB58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953000"/>
            <a:ext cx="424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8223B"/>
                </a:solidFill>
              </a:defRPr>
            </a:pPr>
            <a:r>
              <a:rPr sz="1725" b="1">
                <a:solidFill>
                  <a:srgbClr val="18223B"/>
                </a:solidFill>
              </a:rPr>
              <a:t>Launch iOS + Android stores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4F2CC4-39D5-4970-86EE-2A15514C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42900"/>
            <a:ext cx="4000500" cy="605790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315BD9"/>
          </a:solidFill>
          <a:ln xmlns:a="http://schemas.openxmlformats.org/drawingml/2006/main" w="38100">
            <a:solidFill>
              <a:srgbClr val="18223B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860d301b0b4d6c"/>
          <a:stretch xmlns:a="http://schemas.openxmlformats.org/drawingml/2006/main"/>
        </p:blipFill>
        <p:spPr>
          <a:xfrm xmlns:a="http://schemas.openxmlformats.org/drawingml/2006/main">
            <a:off x="7723867" y="533400"/>
            <a:ext cx="2649767" cy="56769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B6006D-CA3D-42B1-8548-951AB842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68738D"/>
                </a:solidFill>
              </a:defRPr>
            </a:pPr>
            <a:r>
              <a:rPr sz="900" b="1">
                <a:solidFill>
                  <a:srgbClr val="68738D"/>
                </a:solidFill>
              </a:rPr>
              <a:t>TRYTHIS.FUN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BD911D-0681-44E1-BAB6-BFF12F856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68738D"/>
                </a:solidFill>
              </a:defRPr>
            </a:pPr>
            <a:r>
              <a:rPr sz="900" b="1">
                <a:solidFill>
                  <a:srgbClr val="68738D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899197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315BD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4F10D3-14E9-4376-8411-F704FC3F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626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FFDF6"/>
          </a:solidFill>
          <a:ln xmlns:a="http://schemas.openxmlformats.org/drawingml/2006/main" w="38100">
            <a:solidFill>
              <a:srgbClr val="18223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43062-C749-4DEC-9612-ECF175B5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1049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315BD9"/>
                </a:solidFill>
              </a:defRPr>
            </a:pPr>
            <a:r>
              <a:rPr sz="1125" b="1">
                <a:solidFill>
                  <a:srgbClr val="315BD9"/>
                </a:solidFill>
              </a:rPr>
              <a:t>THE OUTCOME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13A571-B539-447D-82DF-8F47E403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77343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8223B"/>
                </a:solidFill>
              </a:defRPr>
            </a:pPr>
            <a:r>
              <a:rPr sz="3900" b="1">
                <a:solidFill>
                  <a:srgbClr val="18223B"/>
                </a:solidFill>
              </a:rPr>
              <a:t>Preserve what families know.</a:t>
            </a:r>
          </a:p>
          <a:p xmlns:a="http://schemas.openxmlformats.org/drawingml/2006/main">
            <a:pPr>
              <a:buNone/>
              <a:defRPr sz="3900" b="1">
                <a:solidFill>
                  <a:srgbClr val="18223B"/>
                </a:solidFill>
              </a:defRPr>
            </a:pPr>
            <a:r>
              <a:rPr sz="3900" b="1">
                <a:solidFill>
                  <a:srgbClr val="18223B"/>
                </a:solidFill>
              </a:rPr>
              <a:t>Make the next laugh easier.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152585-4535-4032-8C78-06374437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43250"/>
            <a:ext cx="723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8738D"/>
                </a:solidFill>
              </a:defRPr>
            </a:pPr>
            <a:r>
              <a:rPr sz="1650" b="0">
                <a:solidFill>
                  <a:srgbClr val="68738D"/>
                </a:solidFill>
              </a:rPr>
              <a:t>Try This Fun turns scattered ideas and fading family traditions into clear, playable moments—on the web today, and across iOS and Android next.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EE8164-5ECF-47CB-AD2F-2A592958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57700"/>
            <a:ext cx="3695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D55A"/>
          </a:solidFill>
          <a:ln xmlns:a="http://schemas.openxmlformats.org/drawingml/2006/main" w="28575">
            <a:solidFill>
              <a:srgbClr val="18223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A8E91C-934D-4CD0-98C4-05FA2CBF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62475"/>
            <a:ext cx="3314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8223B"/>
                </a:solidFill>
              </a:defRPr>
            </a:pPr>
            <a:r>
              <a:rPr sz="2025" b="1">
                <a:solidFill>
                  <a:srgbClr val="18223B"/>
                </a:solidFill>
              </a:rPr>
              <a:t>trythis.fun  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A12EB2-4DF5-4826-8F5F-AC3EF53B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9067800" y="952500"/>
            <a:ext cx="1619250" cy="201930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68D6B1"/>
          </a:solidFill>
          <a:ln xmlns:a="http://schemas.openxmlformats.org/drawingml/2006/main" w="38100">
            <a:solidFill>
              <a:srgbClr val="18223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E9EE7F-3F8C-4FB4-AAE1-556BD563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60000">
            <a:off x="9296400" y="2762250"/>
            <a:ext cx="1809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6961"/>
          </a:solidFill>
          <a:ln xmlns:a="http://schemas.openxmlformats.org/drawingml/2006/main" w="38100">
            <a:solidFill>
              <a:srgbClr val="1822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AD4DED-A48E-44B6-B2A0-1510C99E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9334500" y="1466850"/>
            <a:ext cx="1066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18223B"/>
                </a:solidFill>
              </a:defRPr>
            </a:pPr>
            <a:r>
              <a:rPr sz="4050" b="1">
                <a:solidFill>
                  <a:srgbClr val="18223B"/>
                </a:solidFill>
              </a:rPr>
              <a:t>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B206CF-C594-4805-BC03-505DDB99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60000">
            <a:off x="9467850" y="3105150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8223B"/>
                </a:solidFill>
              </a:defRPr>
            </a:pPr>
            <a:r>
              <a:rPr sz="2025" b="1">
                <a:solidFill>
                  <a:srgbClr val="18223B"/>
                </a:solidFill>
              </a:rPr>
              <a:t>TRY 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4A972A-81D6-4EA4-8BD7-9B1D2F749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3340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8223B"/>
                </a:solidFill>
              </a:defRPr>
            </a:pPr>
            <a:r>
              <a:rPr sz="1125" b="1">
                <a:solidFill>
                  <a:srgbClr val="18223B"/>
                </a:solidFill>
              </a:rPr>
              <a:t>Kumar Sridharamurthy  +  Lavanya Shirur Sudhakar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29E659-AF5A-49A2-B399-A46787F2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7150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68738D"/>
                </a:solidFill>
              </a:defRPr>
            </a:pPr>
            <a:r>
              <a:rPr sz="1050" b="0">
                <a:solidFill>
                  <a:srgbClr val="68738D"/>
                </a:solidFill>
              </a:rPr>
              <a:t>Play it now</a:t>
            </a:r>
          </a:p>
        </p:txBody>
      </p:sp>
    </p:spTree>
    <p:extLst>
      <p:ext uri="{BB962C8B-B14F-4D97-AF65-F5344CB8AC3E}">
        <p14:creationId xmlns:p14="http://schemas.microsoft.com/office/powerpoint/2010/main" val="13411786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2026-08-20T07:19:27.8280000Z</dcterms:created>
  <dcterms:modified xsi:type="dcterms:W3CDTF">2026-08-20T07:19:27.8280000Z</dcterms:modified>
</coreProperties>
</file>